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77" r:id="rId11"/>
    <p:sldId id="265" r:id="rId12"/>
    <p:sldId id="266" r:id="rId13"/>
    <p:sldId id="267" r:id="rId14"/>
    <p:sldId id="271" r:id="rId15"/>
    <p:sldId id="269" r:id="rId16"/>
    <p:sldId id="270"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rathalluri Sathvik Samuel" initials="ASS" lastIdx="1" clrIdx="0">
    <p:extLst>
      <p:ext uri="{19B8F6BF-5375-455C-9EA6-DF929625EA0E}">
        <p15:presenceInfo xmlns:p15="http://schemas.microsoft.com/office/powerpoint/2012/main" userId="b0dc83209da7fe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5" d="100"/>
          <a:sy n="85" d="100"/>
        </p:scale>
        <p:origin x="581"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1-10T20:46:42.606" idx="1">
    <p:pos x="7024" y="1672"/>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29484268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2296221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14848235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277505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D8539E-0AE4-49D7-B8D7-3068FBAAFDDF}"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18489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241242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570314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2340481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73D5B94E-BCD7-4FD5-ABF8-E9823D229679}" type="datetimeFigureOut">
              <a:rPr lang="en-US" smtClean="0"/>
              <a:pPr/>
              <a:t>11/10/2025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1443972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1117517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D5B94E-BCD7-4FD5-ABF8-E9823D22967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D8539E-0AE4-49D7-B8D7-3068FBAAFDDF}" type="slidenum">
              <a:rPr lang="en-US" smtClean="0"/>
              <a:pPr/>
              <a:t>‹#›</a:t>
            </a:fld>
            <a:endParaRPr lang="en-US"/>
          </a:p>
        </p:txBody>
      </p:sp>
    </p:spTree>
    <p:extLst>
      <p:ext uri="{BB962C8B-B14F-4D97-AF65-F5344CB8AC3E}">
        <p14:creationId xmlns:p14="http://schemas.microsoft.com/office/powerpoint/2010/main" val="3530731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73D5B94E-BCD7-4FD5-ABF8-E9823D229679}" type="datetimeFigureOut">
              <a:rPr lang="en-US" smtClean="0"/>
              <a:pPr/>
              <a:t>11/10/2025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1AD8539E-0AE4-49D7-B8D7-3068FBAAFDDF}" type="slidenum">
              <a:rPr lang="en-US" smtClean="0"/>
              <a:pPr/>
              <a:t>‹#›</a:t>
            </a:fld>
            <a:endParaRPr lang="en-US"/>
          </a:p>
        </p:txBody>
      </p:sp>
    </p:spTree>
    <p:extLst>
      <p:ext uri="{BB962C8B-B14F-4D97-AF65-F5344CB8AC3E}">
        <p14:creationId xmlns:p14="http://schemas.microsoft.com/office/powerpoint/2010/main" val="3483644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1349C-20BB-4959-8BC5-1135463BCD86}"/>
              </a:ext>
            </a:extLst>
          </p:cNvPr>
          <p:cNvSpPr>
            <a:spLocks noGrp="1"/>
          </p:cNvSpPr>
          <p:nvPr>
            <p:ph type="ctrTitle"/>
          </p:nvPr>
        </p:nvSpPr>
        <p:spPr/>
        <p:txBody>
          <a:bodyPr>
            <a:normAutofit fontScale="90000"/>
          </a:bodyPr>
          <a:lstStyle/>
          <a:p>
            <a:r>
              <a:rPr lang="en-US" dirty="0"/>
              <a:t>Research Navigator – Ai powered research insight analyzer</a:t>
            </a:r>
          </a:p>
        </p:txBody>
      </p:sp>
      <p:sp>
        <p:nvSpPr>
          <p:cNvPr id="3" name="Subtitle 2">
            <a:extLst>
              <a:ext uri="{FF2B5EF4-FFF2-40B4-BE49-F238E27FC236}">
                <a16:creationId xmlns:a16="http://schemas.microsoft.com/office/drawing/2014/main" id="{CA2067AC-62DA-4319-AD9D-05182FF3D2F2}"/>
              </a:ext>
            </a:extLst>
          </p:cNvPr>
          <p:cNvSpPr>
            <a:spLocks noGrp="1"/>
          </p:cNvSpPr>
          <p:nvPr>
            <p:ph type="subTitle" idx="1"/>
          </p:nvPr>
        </p:nvSpPr>
        <p:spPr>
          <a:xfrm>
            <a:off x="8148918" y="4451156"/>
            <a:ext cx="3400806" cy="2308232"/>
          </a:xfrm>
        </p:spPr>
        <p:txBody>
          <a:bodyPr>
            <a:noAutofit/>
          </a:bodyPr>
          <a:lstStyle/>
          <a:p>
            <a:r>
              <a:rPr lang="en-US" sz="1600" dirty="0"/>
              <a:t>Team-01:</a:t>
            </a:r>
          </a:p>
          <a:p>
            <a:r>
              <a:rPr lang="en-US" sz="1600" dirty="0"/>
              <a:t>Sathvik Samuel</a:t>
            </a:r>
          </a:p>
          <a:p>
            <a:r>
              <a:rPr lang="en-US" sz="1600" dirty="0"/>
              <a:t>Abhishek</a:t>
            </a:r>
          </a:p>
          <a:p>
            <a:r>
              <a:rPr lang="en-US" sz="1600" dirty="0"/>
              <a:t>Aryan Raj</a:t>
            </a:r>
          </a:p>
          <a:p>
            <a:r>
              <a:rPr lang="en-US" sz="1600" dirty="0" err="1"/>
              <a:t>Srija</a:t>
            </a:r>
            <a:endParaRPr lang="en-US" sz="1600" dirty="0"/>
          </a:p>
          <a:p>
            <a:r>
              <a:rPr lang="en-US" sz="1600" dirty="0" err="1"/>
              <a:t>Bhav</a:t>
            </a:r>
            <a:r>
              <a:rPr lang="en-US" sz="1600" dirty="0"/>
              <a:t> </a:t>
            </a:r>
            <a:r>
              <a:rPr lang="en-US" sz="1600" dirty="0" err="1"/>
              <a:t>Shishodia</a:t>
            </a:r>
            <a:endParaRPr lang="en-US" sz="1600" dirty="0"/>
          </a:p>
        </p:txBody>
      </p:sp>
    </p:spTree>
    <p:extLst>
      <p:ext uri="{BB962C8B-B14F-4D97-AF65-F5344CB8AC3E}">
        <p14:creationId xmlns:p14="http://schemas.microsoft.com/office/powerpoint/2010/main" val="2663732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9B9F-FE17-44E3-BD59-C213812E1F28}"/>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630B0129-7393-4CE4-A367-B17F0918A4A6}"/>
              </a:ext>
            </a:extLst>
          </p:cNvPr>
          <p:cNvSpPr>
            <a:spLocks noGrp="1"/>
          </p:cNvSpPr>
          <p:nvPr>
            <p:ph idx="1"/>
          </p:nvPr>
        </p:nvSpPr>
        <p:spPr>
          <a:xfrm>
            <a:off x="806824" y="2629080"/>
            <a:ext cx="10443882" cy="3744826"/>
          </a:xfrm>
        </p:spPr>
        <p:txBody>
          <a:bodyPr>
            <a:normAutofit/>
          </a:bodyPr>
          <a:lstStyle/>
          <a:p>
            <a:pPr algn="just">
              <a:buClrTx/>
            </a:pPr>
            <a:r>
              <a:rPr lang="en-US" sz="1800" b="0" i="0" u="none" strike="noStrike" baseline="0" dirty="0">
                <a:solidFill>
                  <a:srgbClr val="1B1C1D"/>
                </a:solidFill>
                <a:latin typeface="Times New Roman" panose="02020603050405020304" pitchFamily="18" charset="0"/>
                <a:cs typeface="Times New Roman" panose="02020603050405020304" pitchFamily="18" charset="0"/>
              </a:rPr>
              <a:t>The exponential growth of academic literature across scientific, technical, and social domains presents a significant challenge for researchers, students, and practitioners. Discovering relevant papers, understanding their core contributions, and identifying connections between seemingly disparate research areas often relies on keyword searches, which can be inefficient and miss nuanced relationships. This information overload can hinder interdisciplinary research and slow down the pace of innovation.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sz="1800" b="0" i="0" u="none" strike="noStrike" baseline="0" dirty="0">
                <a:solidFill>
                  <a:srgbClr val="1B1C1D"/>
                </a:solidFill>
                <a:latin typeface="Times New Roman" panose="02020603050405020304" pitchFamily="18" charset="0"/>
                <a:cs typeface="Times New Roman" panose="02020603050405020304" pitchFamily="18" charset="0"/>
              </a:rPr>
              <a:t>The "Research Navigator: Semantic Paper Analyzer" project aims to address this by developing an </a:t>
            </a:r>
            <a:r>
              <a:rPr lang="en-US" sz="1800" i="0" u="none" strike="noStrike" baseline="0" dirty="0">
                <a:solidFill>
                  <a:srgbClr val="1B1C1D"/>
                </a:solidFill>
                <a:latin typeface="Times New Roman" panose="02020603050405020304" pitchFamily="18" charset="0"/>
                <a:cs typeface="Times New Roman" panose="02020603050405020304" pitchFamily="18" charset="0"/>
              </a:rPr>
              <a:t>AI-powered system that semantically analyzes academic paper abstracts and full texts . This tool will automatically extract key concepts, research methodologies, and findings, enabling users to perform semantic searches that go beyond keywords, discover related research, and v</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isualize the intellectual landscape of a topic. By providing a more intelligent way to navigate academic knowledge, this project will empower users to find insights faster and foster cross-disciplinary understanding.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4056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380F-548A-4C49-B553-5576014261A3}"/>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8A62E1AC-E346-47ED-8CDB-5AFB3BA6DFAA}"/>
              </a:ext>
            </a:extLst>
          </p:cNvPr>
          <p:cNvSpPr>
            <a:spLocks noGrp="1"/>
          </p:cNvSpPr>
          <p:nvPr>
            <p:ph idx="1"/>
          </p:nvPr>
        </p:nvSpPr>
        <p:spPr>
          <a:xfrm>
            <a:off x="1075765" y="2638044"/>
            <a:ext cx="10049435" cy="3717932"/>
          </a:xfrm>
        </p:spPr>
        <p:txBody>
          <a:bodyPr>
            <a:normAutofit/>
          </a:bodyPr>
          <a:lstStyle/>
          <a:p>
            <a:pPr algn="just">
              <a:buClrTx/>
            </a:pPr>
            <a:r>
              <a:rPr lang="en-US" dirty="0">
                <a:effectLst/>
                <a:latin typeface="Times New Roman" panose="02020603050405020304" pitchFamily="18" charset="0"/>
                <a:cs typeface="Times New Roman" panose="02020603050405020304" pitchFamily="18" charset="0"/>
              </a:rPr>
              <a:t>To develop an AI-based system that automatically analyzes and interprets research papers using advanced Natural Language Processing (NLP) techniques.</a:t>
            </a:r>
            <a:endParaRPr lang="en-US" dirty="0">
              <a:latin typeface="Times New Roman" panose="02020603050405020304" pitchFamily="18" charset="0"/>
              <a:cs typeface="Times New Roman" panose="02020603050405020304" pitchFamily="18" charset="0"/>
            </a:endParaRPr>
          </a:p>
          <a:p>
            <a:pPr algn="just">
              <a:buClrTx/>
            </a:pPr>
            <a:r>
              <a:rPr lang="en-US" dirty="0">
                <a:effectLst/>
                <a:latin typeface="Times New Roman" panose="02020603050405020304" pitchFamily="18" charset="0"/>
                <a:cs typeface="Times New Roman" panose="02020603050405020304" pitchFamily="18" charset="0"/>
              </a:rPr>
              <a:t>To generate concise summaries and key insights from lengthy academic documents, enabling faster understanding of research content.</a:t>
            </a:r>
            <a:endParaRPr lang="en-US" dirty="0">
              <a:latin typeface="Times New Roman" panose="02020603050405020304" pitchFamily="18" charset="0"/>
              <a:cs typeface="Times New Roman" panose="02020603050405020304" pitchFamily="18" charset="0"/>
            </a:endParaRPr>
          </a:p>
          <a:p>
            <a:pPr algn="just">
              <a:buClrTx/>
            </a:pPr>
            <a:r>
              <a:rPr lang="en-US" dirty="0">
                <a:effectLst/>
                <a:latin typeface="Times New Roman" panose="02020603050405020304" pitchFamily="18" charset="0"/>
                <a:cs typeface="Times New Roman" panose="02020603050405020304" pitchFamily="18" charset="0"/>
              </a:rPr>
              <a:t>To identify research trends, patterns, and gaps across various domains through intelligent data mining and semantic analysis.</a:t>
            </a:r>
            <a:endParaRPr lang="en-US" dirty="0">
              <a:latin typeface="Times New Roman" panose="02020603050405020304" pitchFamily="18" charset="0"/>
              <a:cs typeface="Times New Roman" panose="02020603050405020304" pitchFamily="18" charset="0"/>
            </a:endParaRPr>
          </a:p>
          <a:p>
            <a:pPr algn="just">
              <a:buClrTx/>
            </a:pPr>
            <a:r>
              <a:rPr lang="en-US" dirty="0">
                <a:effectLst/>
                <a:latin typeface="Times New Roman" panose="02020603050405020304" pitchFamily="18" charset="0"/>
                <a:cs typeface="Times New Roman" panose="02020603050405020304" pitchFamily="18" charset="0"/>
              </a:rPr>
              <a:t>To design an interactive dashboard for visualizing insights, keyword relationships, and topic distributions for effective decision-making.</a:t>
            </a:r>
            <a:endParaRPr lang="en-US" dirty="0">
              <a:latin typeface="Times New Roman" panose="02020603050405020304" pitchFamily="18" charset="0"/>
              <a:cs typeface="Times New Roman" panose="02020603050405020304" pitchFamily="18" charset="0"/>
            </a:endParaRPr>
          </a:p>
          <a:p>
            <a:pPr algn="just">
              <a:buClrTx/>
            </a:pPr>
            <a:r>
              <a:rPr lang="en-US" dirty="0">
                <a:effectLst/>
                <a:latin typeface="Times New Roman" panose="02020603050405020304" pitchFamily="18" charset="0"/>
                <a:cs typeface="Times New Roman" panose="02020603050405020304" pitchFamily="18" charset="0"/>
              </a:rPr>
              <a:t>To recommend relevant research papers and topics based on user interests using AI-driven search and recommendation algorithms.</a:t>
            </a:r>
            <a:endParaRPr lang="en-US" dirty="0">
              <a:latin typeface="Times New Roman" panose="02020603050405020304" pitchFamily="18" charset="0"/>
              <a:cs typeface="Times New Roman" panose="02020603050405020304" pitchFamily="18" charset="0"/>
            </a:endParaRPr>
          </a:p>
          <a:p>
            <a:pPr algn="just">
              <a:buClrTx/>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237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380F-548A-4C49-B553-5576014261A3}"/>
              </a:ext>
            </a:extLst>
          </p:cNvPr>
          <p:cNvSpPr>
            <a:spLocks noGrp="1"/>
          </p:cNvSpPr>
          <p:nvPr>
            <p:ph type="title"/>
          </p:nvPr>
        </p:nvSpPr>
        <p:spPr/>
        <p:txBody>
          <a:bodyPr/>
          <a:lstStyle/>
          <a:p>
            <a:r>
              <a:rPr lang="en-US" dirty="0"/>
              <a:t>Outcomes</a:t>
            </a:r>
          </a:p>
        </p:txBody>
      </p:sp>
      <p:sp>
        <p:nvSpPr>
          <p:cNvPr id="3" name="Content Placeholder 2">
            <a:extLst>
              <a:ext uri="{FF2B5EF4-FFF2-40B4-BE49-F238E27FC236}">
                <a16:creationId xmlns:a16="http://schemas.microsoft.com/office/drawing/2014/main" id="{8A62E1AC-E346-47ED-8CDB-5AFB3BA6DFAA}"/>
              </a:ext>
            </a:extLst>
          </p:cNvPr>
          <p:cNvSpPr>
            <a:spLocks noGrp="1"/>
          </p:cNvSpPr>
          <p:nvPr>
            <p:ph idx="1"/>
          </p:nvPr>
        </p:nvSpPr>
        <p:spPr>
          <a:xfrm>
            <a:off x="1075765" y="2638044"/>
            <a:ext cx="10049435" cy="3717932"/>
          </a:xfrm>
        </p:spPr>
        <p:txBody>
          <a:bodyPr>
            <a:normAutofit lnSpcReduction="10000"/>
          </a:bodyPr>
          <a:lstStyle/>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Automated Information Extraction: </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Accurately extract key entities (e.g., research methods, datasets, theories, diseases, genes) and relationships from academic texts.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Semantic Search Capability: </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Allow users to query research papers using natural language, retrieving results based on meaning rather than just keyword matches.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Intelligent Paper Recommendation: </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Suggest related papers based on extracted semantic content, helping users discover relevant literature they might otherwise miss.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Conceptual Knowledge Overview: </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Provide a structured (though not necessarily visual graph) overview of how concepts and methods are connected within a research domain.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Scalable Data Processing: </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Designed to ingest and process large volumes of academic abstracts/papers from open-access repositories.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User-Friendly Interface: </a:t>
            </a:r>
            <a:r>
              <a:rPr lang="en-US" sz="1800" b="0" i="0" u="none" strike="noStrike" baseline="0" dirty="0">
                <a:solidFill>
                  <a:srgbClr val="1B1C1D"/>
                </a:solidFill>
                <a:latin typeface="Times New Roman" panose="02020603050405020304" pitchFamily="18" charset="0"/>
                <a:cs typeface="Times New Roman" panose="02020603050405020304" pitchFamily="18" charset="0"/>
              </a:rPr>
              <a:t>An intuitive platform for searching, browsing, and analyzing research papers.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2713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B68CF-386B-47D2-B745-0D47A74774C4}"/>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2CC94A34-A65C-497A-BD0A-87565FF5530B}"/>
              </a:ext>
            </a:extLst>
          </p:cNvPr>
          <p:cNvSpPr>
            <a:spLocks noGrp="1"/>
          </p:cNvSpPr>
          <p:nvPr>
            <p:ph idx="1"/>
          </p:nvPr>
        </p:nvSpPr>
        <p:spPr>
          <a:xfrm>
            <a:off x="905435" y="2294966"/>
            <a:ext cx="10309412" cy="4249269"/>
          </a:xfrm>
        </p:spPr>
        <p:txBody>
          <a:bodyPr>
            <a:noAutofit/>
          </a:bodyPr>
          <a:lstStyle/>
          <a:p>
            <a:pPr algn="just">
              <a:buClrTx/>
            </a:pPr>
            <a:r>
              <a:rPr lang="en-US" b="1" i="0" u="none" strike="noStrike" baseline="0" dirty="0">
                <a:solidFill>
                  <a:srgbClr val="000000"/>
                </a:solidFill>
                <a:latin typeface="Times New Roman" panose="02020603050405020304" pitchFamily="18" charset="0"/>
                <a:cs typeface="Times New Roman" panose="02020603050405020304" pitchFamily="18" charset="0"/>
              </a:rPr>
              <a:t>User Authentication and Profile Management: </a:t>
            </a:r>
          </a:p>
          <a:p>
            <a:pPr algn="just">
              <a:buClrTx/>
              <a:buFont typeface="Wingdings" panose="05000000000000000000" pitchFamily="2" charset="2"/>
              <a:buChar char="Ø"/>
            </a:pPr>
            <a:r>
              <a:rPr lang="en-US" b="0" i="0" u="none" strike="noStrike" baseline="0" dirty="0">
                <a:solidFill>
                  <a:srgbClr val="000000"/>
                </a:solidFill>
                <a:latin typeface="Times New Roman" panose="02020603050405020304" pitchFamily="18" charset="0"/>
                <a:cs typeface="Times New Roman" panose="02020603050405020304" pitchFamily="18" charset="0"/>
              </a:rPr>
              <a:t> User registration, login (standard email/password). </a:t>
            </a:r>
          </a:p>
          <a:p>
            <a:pPr algn="just">
              <a:buClrTx/>
              <a:buFont typeface="Wingdings" panose="05000000000000000000" pitchFamily="2" charset="2"/>
              <a:buChar char="Ø"/>
            </a:pPr>
            <a:r>
              <a:rPr lang="en-US" b="0" i="0" u="none" strike="noStrike" baseline="0" dirty="0">
                <a:solidFill>
                  <a:srgbClr val="000000"/>
                </a:solidFill>
                <a:latin typeface="Times New Roman" panose="02020603050405020304" pitchFamily="18" charset="0"/>
                <a:cs typeface="Times New Roman" panose="02020603050405020304" pitchFamily="18" charset="0"/>
              </a:rPr>
              <a:t> </a:t>
            </a:r>
            <a:r>
              <a:rPr lang="en-US" b="0" i="0" u="none" strike="noStrike" baseline="0" dirty="0">
                <a:solidFill>
                  <a:srgbClr val="1B1C1D"/>
                </a:solidFill>
                <a:latin typeface="Times New Roman" panose="02020603050405020304" pitchFamily="18" charset="0"/>
                <a:cs typeface="Times New Roman" panose="02020603050405020304" pitchFamily="18" charset="0"/>
              </a:rPr>
              <a:t>Basic user profile for managing saved searches and favorite papers. </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r>
              <a:rPr lang="en-US" b="1" i="0" u="none" strike="noStrike" baseline="0" dirty="0">
                <a:solidFill>
                  <a:srgbClr val="000000"/>
                </a:solidFill>
                <a:latin typeface="Times New Roman" panose="02020603050405020304" pitchFamily="18" charset="0"/>
                <a:cs typeface="Times New Roman" panose="02020603050405020304" pitchFamily="18" charset="0"/>
              </a:rPr>
              <a:t>Document Ingestion &amp; Preprocessing Module: </a:t>
            </a:r>
          </a:p>
          <a:p>
            <a:pPr algn="just">
              <a:buClrTx/>
              <a:buFont typeface="Wingdings" panose="05000000000000000000" pitchFamily="2" charset="2"/>
              <a:buChar char="Ø"/>
            </a:pPr>
            <a:r>
              <a:rPr lang="en-US" b="0" i="0" u="none" strike="noStrike" baseline="0" dirty="0">
                <a:solidFill>
                  <a:srgbClr val="1B1C1D"/>
                </a:solidFill>
                <a:latin typeface="Times New Roman" panose="02020603050405020304" pitchFamily="18" charset="0"/>
                <a:cs typeface="Times New Roman" panose="02020603050405020304" pitchFamily="18" charset="0"/>
              </a:rPr>
              <a:t>Automated pipeline to collect academic paper abstracts/metadata from open-access APIs (e.g., </a:t>
            </a:r>
            <a:r>
              <a:rPr lang="en-US" b="0" i="0" u="none" strike="noStrike" baseline="0" dirty="0" err="1">
                <a:solidFill>
                  <a:srgbClr val="1B1C1D"/>
                </a:solidFill>
                <a:latin typeface="Times New Roman" panose="02020603050405020304" pitchFamily="18" charset="0"/>
                <a:cs typeface="Times New Roman" panose="02020603050405020304" pitchFamily="18" charset="0"/>
              </a:rPr>
              <a:t>ArXiv</a:t>
            </a:r>
            <a:r>
              <a:rPr lang="en-US" b="0" i="0" u="none" strike="noStrike" baseline="0" dirty="0">
                <a:solidFill>
                  <a:srgbClr val="1B1C1D"/>
                </a:solidFill>
                <a:latin typeface="Times New Roman" panose="02020603050405020304" pitchFamily="18" charset="0"/>
                <a:cs typeface="Times New Roman" panose="02020603050405020304" pitchFamily="18" charset="0"/>
              </a:rPr>
              <a:t> API, PubMed Central API). </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buFont typeface="Wingdings" panose="05000000000000000000" pitchFamily="2" charset="2"/>
              <a:buChar char="Ø"/>
            </a:pPr>
            <a:r>
              <a:rPr lang="en-US" b="0" i="0" u="none" strike="noStrike" baseline="0" dirty="0">
                <a:solidFill>
                  <a:srgbClr val="000000"/>
                </a:solidFill>
                <a:latin typeface="Times New Roman" panose="02020603050405020304" pitchFamily="18" charset="0"/>
                <a:cs typeface="Times New Roman" panose="02020603050405020304" pitchFamily="18" charset="0"/>
              </a:rPr>
              <a:t>Text cleaning, sentence segmentation, and tokenization. </a:t>
            </a:r>
          </a:p>
          <a:p>
            <a:pPr algn="just">
              <a:buClrTx/>
            </a:pPr>
            <a:r>
              <a:rPr lang="en-US" sz="1800" b="1" i="0" u="none" strike="noStrike" baseline="0" dirty="0">
                <a:solidFill>
                  <a:srgbClr val="000000"/>
                </a:solidFill>
                <a:latin typeface="Times New Roman" panose="02020603050405020304" pitchFamily="18" charset="0"/>
                <a:cs typeface="Times New Roman" panose="02020603050405020304" pitchFamily="18" charset="0"/>
              </a:rPr>
              <a:t>NLP Analysis Module (Core): </a:t>
            </a:r>
          </a:p>
          <a:p>
            <a:pPr algn="just">
              <a:buClrTx/>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Named Entity Recognition (NER): Identify and classify domain-specific entities (e.g., "Convolutional Neural Network," "CRISPR,"   "Monte Carlo Simulation," "COVID-19"). This will likely involve fine-tuning a pre-trained model or building a custom one.</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gn="just">
              <a:buClrTx/>
              <a:buNone/>
            </a:pP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gn="just">
              <a:buClrTx/>
              <a:buNone/>
            </a:pPr>
            <a:r>
              <a:rPr lang="en-US" dirty="0">
                <a:solidFill>
                  <a:srgbClr val="000000"/>
                </a:solidFill>
                <a:latin typeface="Times New Roman" panose="02020603050405020304" pitchFamily="18" charset="0"/>
                <a:cs typeface="Times New Roman" panose="02020603050405020304" pitchFamily="18" charset="0"/>
              </a:rPr>
              <a:t>      </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121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CEC29-A71D-4043-B84B-37D6616D33B1}"/>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6223412-A21B-4302-80C8-877D5EE44D9C}"/>
              </a:ext>
            </a:extLst>
          </p:cNvPr>
          <p:cNvSpPr>
            <a:spLocks noGrp="1"/>
          </p:cNvSpPr>
          <p:nvPr>
            <p:ph idx="1"/>
          </p:nvPr>
        </p:nvSpPr>
        <p:spPr>
          <a:xfrm>
            <a:off x="977153" y="2638044"/>
            <a:ext cx="10139082" cy="3691038"/>
          </a:xfrm>
        </p:spPr>
        <p:txBody>
          <a:bodyPr/>
          <a:lstStyle/>
          <a:p>
            <a:pPr algn="just">
              <a:buClrTx/>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Relation Extraction: Identify relationships between extracted entities (e.g., "uses method," "studies effect of," "proposes theory").</a:t>
            </a:r>
            <a:endParaRPr lang="en-US" dirty="0">
              <a:latin typeface="Times New Roman" panose="02020603050405020304" pitchFamily="18" charset="0"/>
              <a:cs typeface="Times New Roman" panose="02020603050405020304" pitchFamily="18" charset="0"/>
            </a:endParaRPr>
          </a:p>
          <a:p>
            <a:pPr algn="just">
              <a:buClrTx/>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t>
            </a:r>
            <a:r>
              <a:rPr lang="en-US" dirty="0">
                <a:effectLst/>
                <a:latin typeface="Times New Roman" panose="02020603050405020304" pitchFamily="18" charset="0"/>
                <a:cs typeface="Times New Roman" panose="02020603050405020304" pitchFamily="18" charset="0"/>
              </a:rPr>
              <a:t>ext Embedding Generation: Convert abstracts/papers and user queries into dense vector representations (embeddings) for semantic similarity calculations.</a:t>
            </a:r>
            <a:endParaRPr lang="en-US" dirty="0">
              <a:latin typeface="Times New Roman" panose="02020603050405020304" pitchFamily="18" charset="0"/>
              <a:cs typeface="Times New Roman" panose="02020603050405020304" pitchFamily="18" charset="0"/>
            </a:endParaRPr>
          </a:p>
          <a:p>
            <a:pPr algn="just">
              <a:buClrTx/>
              <a:buFont typeface="Gill Sans MT" panose="020B0502020104020203" pitchFamily="34" charset="0"/>
              <a:buChar char="•"/>
            </a:pPr>
            <a:r>
              <a:rPr lang="en-US" b="1" i="0" u="none" strike="noStrike" baseline="0" dirty="0">
                <a:solidFill>
                  <a:srgbClr val="000000"/>
                </a:solidFill>
                <a:latin typeface="Times New Roman" panose="02020603050405020304" pitchFamily="18" charset="0"/>
                <a:cs typeface="Times New Roman" panose="02020603050405020304" pitchFamily="18" charset="0"/>
              </a:rPr>
              <a:t>Semantic Search &amp; Recommendation Module: </a:t>
            </a:r>
          </a:p>
          <a:p>
            <a:pPr algn="just">
              <a:buClrTx/>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Implement a vector similarity search (e.g., using </a:t>
            </a:r>
            <a:r>
              <a:rPr lang="en-US" dirty="0" err="1">
                <a:effectLst/>
                <a:latin typeface="Times New Roman" panose="02020603050405020304" pitchFamily="18" charset="0"/>
                <a:cs typeface="Times New Roman" panose="02020603050405020304" pitchFamily="18" charset="0"/>
              </a:rPr>
              <a:t>Faiss</a:t>
            </a:r>
            <a:r>
              <a:rPr lang="en-US" dirty="0">
                <a:effectLst/>
                <a:latin typeface="Times New Roman" panose="02020603050405020304" pitchFamily="18" charset="0"/>
                <a:cs typeface="Times New Roman" panose="02020603050405020304" pitchFamily="18" charset="0"/>
              </a:rPr>
              <a:t> or Scikit-</a:t>
            </a:r>
            <a:r>
              <a:rPr lang="en-US" dirty="0" err="1">
                <a:effectLst/>
                <a:latin typeface="Times New Roman" panose="02020603050405020304" pitchFamily="18" charset="0"/>
                <a:cs typeface="Times New Roman" panose="02020603050405020304" pitchFamily="18" charset="0"/>
              </a:rPr>
              <a:t>learn's</a:t>
            </a:r>
            <a:r>
              <a:rPr lang="en-US" dirty="0">
                <a:effectLst/>
                <a:latin typeface="Times New Roman" panose="02020603050405020304" pitchFamily="18" charset="0"/>
                <a:cs typeface="Times New Roman" panose="02020603050405020304" pitchFamily="18" charset="0"/>
              </a:rPr>
              <a:t> </a:t>
            </a:r>
            <a:r>
              <a:rPr lang="en-US" dirty="0" err="1">
                <a:effectLst/>
                <a:latin typeface="Times New Roman" panose="02020603050405020304" pitchFamily="18" charset="0"/>
                <a:cs typeface="Times New Roman" panose="02020603050405020304" pitchFamily="18" charset="0"/>
              </a:rPr>
              <a:t>NearestNeighbors</a:t>
            </a:r>
            <a:r>
              <a:rPr lang="en-US" dirty="0">
                <a:effectLst/>
                <a:latin typeface="Times New Roman" panose="02020603050405020304" pitchFamily="18" charset="0"/>
                <a:cs typeface="Times New Roman" panose="02020603050405020304" pitchFamily="18" charset="0"/>
              </a:rPr>
              <a:t> on embeddings) to find semantically similar papers to a query or a given paper.</a:t>
            </a:r>
          </a:p>
          <a:p>
            <a:pPr algn="just">
              <a:buClrTx/>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Develop a recommendation logic based on extracted entities and semantic similarity.</a:t>
            </a:r>
            <a:endParaRPr lang="en-US" b="0" i="0" u="none" strike="noStrike" baseline="0" dirty="0">
              <a:solidFill>
                <a:srgbClr val="000000"/>
              </a:solidFill>
              <a:latin typeface="Times New Roman" panose="02020603050405020304" pitchFamily="18" charset="0"/>
              <a:cs typeface="Times New Roman" panose="02020603050405020304" pitchFamily="18" charset="0"/>
            </a:endParaRPr>
          </a:p>
          <a:p>
            <a:pPr marL="0" indent="0" algn="just">
              <a:buClrTx/>
              <a:buNone/>
            </a:pPr>
            <a:endParaRPr lang="en-US" sz="1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buFont typeface="Gill Sans MT" panose="020B0502020104020203" pitchFamily="34" charset="0"/>
              <a:buChar char="•"/>
            </a:pP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48471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D7392-550B-4B01-9E09-E763B421EBE8}"/>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BFE8D63D-18C3-4432-A97F-C5F8960BD8FE}"/>
              </a:ext>
            </a:extLst>
          </p:cNvPr>
          <p:cNvSpPr>
            <a:spLocks noGrp="1"/>
          </p:cNvSpPr>
          <p:nvPr>
            <p:ph idx="1"/>
          </p:nvPr>
        </p:nvSpPr>
        <p:spPr>
          <a:xfrm>
            <a:off x="1138517" y="2638044"/>
            <a:ext cx="9798423" cy="3583462"/>
          </a:xfrm>
        </p:spPr>
        <p:txBody>
          <a:bodyPr>
            <a:normAutofit/>
          </a:bodyPr>
          <a:lstStyle/>
          <a:p>
            <a:pPr>
              <a:buClrTx/>
            </a:pPr>
            <a:r>
              <a:rPr lang="en-US" sz="1800" b="1" i="0" u="none" strike="noStrike" baseline="0" dirty="0">
                <a:solidFill>
                  <a:srgbClr val="000000"/>
                </a:solidFill>
                <a:latin typeface="Times New Roman" panose="02020603050405020304" pitchFamily="18" charset="0"/>
                <a:cs typeface="Times New Roman" panose="02020603050405020304" pitchFamily="18" charset="0"/>
              </a:rPr>
              <a:t>Visualization &amp; Reporting Module :</a:t>
            </a:r>
          </a:p>
          <a:p>
            <a:pPr algn="just">
              <a:buClrTx/>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Display search results with relevance scores and highlighted extracted entities. </a:t>
            </a:r>
            <a:endParaRPr lang="en-US" dirty="0">
              <a:latin typeface="Times New Roman" panose="02020603050405020304" pitchFamily="18" charset="0"/>
              <a:cs typeface="Times New Roman" panose="02020603050405020304" pitchFamily="18" charset="0"/>
            </a:endParaRPr>
          </a:p>
          <a:p>
            <a:pPr algn="just">
              <a:buClrTx/>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Present recommended papers.</a:t>
            </a:r>
            <a:endParaRPr lang="en-US" dirty="0">
              <a:latin typeface="Times New Roman" panose="02020603050405020304" pitchFamily="18" charset="0"/>
              <a:cs typeface="Times New Roman" panose="02020603050405020304" pitchFamily="18" charset="0"/>
            </a:endParaRPr>
          </a:p>
          <a:p>
            <a:pPr algn="just">
              <a:buClrTx/>
              <a:buFont typeface="Wingdings" panose="05000000000000000000" pitchFamily="2" charset="2"/>
              <a:buChar char="Ø"/>
            </a:pPr>
            <a:r>
              <a:rPr lang="en-US" dirty="0">
                <a:effectLst/>
                <a:latin typeface="Times New Roman" panose="02020603050405020304" pitchFamily="18" charset="0"/>
                <a:cs typeface="Times New Roman" panose="02020603050405020304" pitchFamily="18" charset="0"/>
              </a:rPr>
              <a:t>Basic charts for distribution of methodologies or topics (e.g., using Matplotlib/Seaborn).</a:t>
            </a:r>
            <a:endParaRPr lang="en-US" sz="1800" b="0" i="0" u="none" strike="noStrike" baseline="0" dirty="0">
              <a:solidFill>
                <a:srgbClr val="000000"/>
              </a:solidFill>
              <a:latin typeface="Cambria" panose="02040503050406030204" pitchFamily="18" charset="0"/>
            </a:endParaRPr>
          </a:p>
          <a:p>
            <a:pPr algn="just">
              <a:buClrTx/>
            </a:pPr>
            <a:r>
              <a:rPr lang="en-US" sz="1800" b="1" i="0" u="none" strike="noStrike" baseline="0" dirty="0">
                <a:solidFill>
                  <a:srgbClr val="1B1C1D"/>
                </a:solidFill>
                <a:latin typeface="Times New Roman" panose="02020603050405020304" pitchFamily="18" charset="0"/>
                <a:cs typeface="Times New Roman" panose="02020603050405020304" pitchFamily="18" charset="0"/>
              </a:rPr>
              <a:t>Admin Dashboard: </a:t>
            </a:r>
          </a:p>
          <a:p>
            <a:pPr algn="just">
              <a:buClrTx/>
              <a:buFont typeface="Wingdings" panose="05000000000000000000" pitchFamily="2" charset="2"/>
              <a:buChar char="Ø"/>
            </a:pPr>
            <a:r>
              <a:rPr lang="en-US" sz="1800" b="0" i="0" u="none" strike="noStrike" baseline="0" dirty="0">
                <a:solidFill>
                  <a:srgbClr val="1B1C1D"/>
                </a:solidFill>
                <a:latin typeface="Times New Roman" panose="02020603050405020304" pitchFamily="18" charset="0"/>
                <a:cs typeface="Times New Roman" panose="02020603050405020304" pitchFamily="18" charset="0"/>
              </a:rPr>
              <a:t>Monitoring of document ingestion and NLP pipeline performance. </a:t>
            </a:r>
          </a:p>
          <a:p>
            <a:pPr algn="just">
              <a:buClrTx/>
              <a:buFont typeface="Wingdings" panose="05000000000000000000" pitchFamily="2" charset="2"/>
              <a:buChar char="Ø"/>
            </a:pPr>
            <a:r>
              <a:rPr lang="en-US" sz="1800" b="0" i="0" u="none" strike="noStrike" baseline="0" dirty="0">
                <a:solidFill>
                  <a:srgbClr val="1B1C1D"/>
                </a:solidFill>
                <a:latin typeface="Times New Roman" panose="02020603050405020304" pitchFamily="18" charset="0"/>
                <a:cs typeface="Times New Roman" panose="02020603050405020304" pitchFamily="18" charset="0"/>
              </a:rPr>
              <a:t>Review and potential manual correction of extracted entities/relations (for model improvement). </a:t>
            </a:r>
          </a:p>
          <a:p>
            <a:pPr algn="just">
              <a:buClrTx/>
              <a:buFont typeface="Wingdings" panose="05000000000000000000" pitchFamily="2" charset="2"/>
              <a:buChar char="Ø"/>
            </a:pPr>
            <a:r>
              <a:rPr lang="en-US" sz="1800" b="0" i="0" u="none" strike="noStrike" baseline="0" dirty="0">
                <a:solidFill>
                  <a:srgbClr val="1B1C1D"/>
                </a:solidFill>
                <a:latin typeface="Times New Roman" panose="02020603050405020304" pitchFamily="18" charset="0"/>
                <a:cs typeface="Times New Roman" panose="02020603050405020304" pitchFamily="18" charset="0"/>
              </a:rPr>
              <a:t>Management of data sources and domain-specific dictionaries.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buClrTx/>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dirty="0"/>
          </a:p>
        </p:txBody>
      </p:sp>
    </p:spTree>
    <p:extLst>
      <p:ext uri="{BB962C8B-B14F-4D97-AF65-F5344CB8AC3E}">
        <p14:creationId xmlns:p14="http://schemas.microsoft.com/office/powerpoint/2010/main" val="3710915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FBCA4-FC22-4997-931A-B156F6FF6C2F}"/>
              </a:ext>
            </a:extLst>
          </p:cNvPr>
          <p:cNvSpPr>
            <a:spLocks noGrp="1"/>
          </p:cNvSpPr>
          <p:nvPr>
            <p:ph type="title"/>
          </p:nvPr>
        </p:nvSpPr>
        <p:spPr>
          <a:xfrm>
            <a:off x="2231136" y="480598"/>
            <a:ext cx="7729728" cy="1188720"/>
          </a:xfrm>
        </p:spPr>
        <p:txBody>
          <a:bodyPr/>
          <a:lstStyle/>
          <a:p>
            <a:r>
              <a:rPr lang="en-US" dirty="0"/>
              <a:t>Hardware requirements</a:t>
            </a:r>
          </a:p>
        </p:txBody>
      </p:sp>
      <p:graphicFrame>
        <p:nvGraphicFramePr>
          <p:cNvPr id="11" name="Table 11">
            <a:extLst>
              <a:ext uri="{FF2B5EF4-FFF2-40B4-BE49-F238E27FC236}">
                <a16:creationId xmlns:a16="http://schemas.microsoft.com/office/drawing/2014/main" id="{6BD04E23-0187-47FE-B8D9-FF7A5ABA985A}"/>
              </a:ext>
            </a:extLst>
          </p:cNvPr>
          <p:cNvGraphicFramePr>
            <a:graphicFrameLocks noGrp="1"/>
          </p:cNvGraphicFramePr>
          <p:nvPr>
            <p:extLst>
              <p:ext uri="{D42A27DB-BD31-4B8C-83A1-F6EECF244321}">
                <p14:modId xmlns:p14="http://schemas.microsoft.com/office/powerpoint/2010/main" val="4010969960"/>
              </p:ext>
            </p:extLst>
          </p:nvPr>
        </p:nvGraphicFramePr>
        <p:xfrm>
          <a:off x="986117" y="1822324"/>
          <a:ext cx="10668000" cy="4862613"/>
        </p:xfrm>
        <a:graphic>
          <a:graphicData uri="http://schemas.openxmlformats.org/drawingml/2006/table">
            <a:tbl>
              <a:tblPr firstRow="1" bandRow="1">
                <a:tableStyleId>{5940675A-B579-460E-94D1-54222C63F5DA}</a:tableStyleId>
              </a:tblPr>
              <a:tblGrid>
                <a:gridCol w="2667000">
                  <a:extLst>
                    <a:ext uri="{9D8B030D-6E8A-4147-A177-3AD203B41FA5}">
                      <a16:colId xmlns:a16="http://schemas.microsoft.com/office/drawing/2014/main" val="294626742"/>
                    </a:ext>
                  </a:extLst>
                </a:gridCol>
                <a:gridCol w="2667000">
                  <a:extLst>
                    <a:ext uri="{9D8B030D-6E8A-4147-A177-3AD203B41FA5}">
                      <a16:colId xmlns:a16="http://schemas.microsoft.com/office/drawing/2014/main" val="2264770781"/>
                    </a:ext>
                  </a:extLst>
                </a:gridCol>
                <a:gridCol w="2667000">
                  <a:extLst>
                    <a:ext uri="{9D8B030D-6E8A-4147-A177-3AD203B41FA5}">
                      <a16:colId xmlns:a16="http://schemas.microsoft.com/office/drawing/2014/main" val="1823719246"/>
                    </a:ext>
                  </a:extLst>
                </a:gridCol>
                <a:gridCol w="2667000">
                  <a:extLst>
                    <a:ext uri="{9D8B030D-6E8A-4147-A177-3AD203B41FA5}">
                      <a16:colId xmlns:a16="http://schemas.microsoft.com/office/drawing/2014/main" val="696681878"/>
                    </a:ext>
                  </a:extLst>
                </a:gridCol>
              </a:tblGrid>
              <a:tr h="473493">
                <a:tc>
                  <a:txBody>
                    <a:bodyPr/>
                    <a:lstStyle/>
                    <a:p>
                      <a:pPr algn="ctr"/>
                      <a:r>
                        <a:rPr lang="en-US" dirty="0">
                          <a:latin typeface="Times New Roman" panose="02020603050405020304" pitchFamily="18" charset="0"/>
                          <a:cs typeface="Times New Roman" panose="02020603050405020304" pitchFamily="18" charset="0"/>
                        </a:rPr>
                        <a:t>Component</a:t>
                      </a:r>
                    </a:p>
                  </a:txBody>
                  <a:tcPr/>
                </a:tc>
                <a:tc>
                  <a:txBody>
                    <a:bodyPr/>
                    <a:lstStyle/>
                    <a:p>
                      <a:pPr algn="ctr"/>
                      <a:r>
                        <a:rPr lang="en-US" dirty="0">
                          <a:latin typeface="Times New Roman" panose="02020603050405020304" pitchFamily="18" charset="0"/>
                          <a:cs typeface="Times New Roman" panose="02020603050405020304" pitchFamily="18" charset="0"/>
                        </a:rPr>
                        <a:t>Minimum</a:t>
                      </a:r>
                    </a:p>
                  </a:txBody>
                  <a:tcPr/>
                </a:tc>
                <a:tc>
                  <a:txBody>
                    <a:bodyPr/>
                    <a:lstStyle/>
                    <a:p>
                      <a:pPr algn="ctr"/>
                      <a:r>
                        <a:rPr lang="en-US" dirty="0">
                          <a:latin typeface="Times New Roman" panose="02020603050405020304" pitchFamily="18" charset="0"/>
                          <a:cs typeface="Times New Roman" panose="02020603050405020304" pitchFamily="18" charset="0"/>
                        </a:rPr>
                        <a:t>Recommended</a:t>
                      </a:r>
                    </a:p>
                  </a:txBody>
                  <a:tcPr/>
                </a:tc>
                <a:tc>
                  <a:txBody>
                    <a:bodyPr/>
                    <a:lstStyle/>
                    <a:p>
                      <a:pPr algn="ctr"/>
                      <a:r>
                        <a:rPr lang="en-US" dirty="0">
                          <a:latin typeface="Times New Roman" panose="02020603050405020304" pitchFamily="18" charset="0"/>
                          <a:cs typeface="Times New Roman" panose="02020603050405020304" pitchFamily="18" charset="0"/>
                        </a:rPr>
                        <a:t>Importance</a:t>
                      </a:r>
                    </a:p>
                  </a:txBody>
                  <a:tcPr anchor="ctr"/>
                </a:tc>
                <a:extLst>
                  <a:ext uri="{0D108BD9-81ED-4DB2-BD59-A6C34878D82A}">
                    <a16:rowId xmlns:a16="http://schemas.microsoft.com/office/drawing/2014/main" val="959525711"/>
                  </a:ext>
                </a:extLst>
              </a:tr>
              <a:tr h="473493">
                <a:tc>
                  <a:txBody>
                    <a:bodyPr/>
                    <a:lstStyle/>
                    <a:p>
                      <a:r>
                        <a:rPr lang="en-US" dirty="0">
                          <a:latin typeface="Times New Roman" panose="02020603050405020304" pitchFamily="18" charset="0"/>
                          <a:cs typeface="Times New Roman" panose="02020603050405020304" pitchFamily="18" charset="0"/>
                        </a:rPr>
                        <a:t>Processor (CPU)</a:t>
                      </a:r>
                    </a:p>
                  </a:txBody>
                  <a:tcPr/>
                </a:tc>
                <a:tc>
                  <a:txBody>
                    <a:bodyPr/>
                    <a:lstStyle/>
                    <a:p>
                      <a:r>
                        <a:rPr lang="nn-NO" dirty="0">
                          <a:latin typeface="Times New Roman" panose="02020603050405020304" pitchFamily="18" charset="0"/>
                          <a:cs typeface="Times New Roman" panose="02020603050405020304" pitchFamily="18" charset="0"/>
                        </a:rPr>
                        <a:t>Intel i5 / AMD Ryzen 5</a:t>
                      </a:r>
                      <a:endParaRPr lang="en-US" dirty="0">
                        <a:latin typeface="Times New Roman" panose="02020603050405020304" pitchFamily="18" charset="0"/>
                        <a:cs typeface="Times New Roman" panose="02020603050405020304" pitchFamily="18" charset="0"/>
                      </a:endParaRPr>
                    </a:p>
                  </a:txBody>
                  <a:tcPr/>
                </a:tc>
                <a:tc>
                  <a:txBody>
                    <a:bodyPr/>
                    <a:lstStyle/>
                    <a:p>
                      <a:r>
                        <a:rPr lang="nn-NO" dirty="0">
                          <a:latin typeface="Times New Roman" panose="02020603050405020304" pitchFamily="18" charset="0"/>
                          <a:cs typeface="Times New Roman" panose="02020603050405020304" pitchFamily="18" charset="0"/>
                        </a:rPr>
                        <a:t>Intel i7 / AMD Ryzen 7</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Handles text extraction &amp; NLP tasks efficiently</a:t>
                      </a:r>
                    </a:p>
                  </a:txBody>
                  <a:tcPr/>
                </a:tc>
                <a:extLst>
                  <a:ext uri="{0D108BD9-81ED-4DB2-BD59-A6C34878D82A}">
                    <a16:rowId xmlns:a16="http://schemas.microsoft.com/office/drawing/2014/main" val="3860326897"/>
                  </a:ext>
                </a:extLst>
              </a:tr>
              <a:tr h="4734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RAM &amp; Storage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8 GB &amp; 256 GB SSD</a:t>
                      </a:r>
                    </a:p>
                    <a:p>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16–32 G &amp;               512 GB – 1 TB SSD</a:t>
                      </a: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Needed for loading transformer models &amp; large papers and </a:t>
                      </a:r>
                    </a:p>
                  </a:txBody>
                  <a:tcPr/>
                </a:tc>
                <a:extLst>
                  <a:ext uri="{0D108BD9-81ED-4DB2-BD59-A6C34878D82A}">
                    <a16:rowId xmlns:a16="http://schemas.microsoft.com/office/drawing/2014/main" val="4004709231"/>
                  </a:ext>
                </a:extLst>
              </a:tr>
              <a:tr h="473493">
                <a:tc>
                  <a:txBody>
                    <a:bodyPr/>
                    <a:lstStyle/>
                    <a:p>
                      <a:r>
                        <a:rPr lang="en-US" b="0" dirty="0">
                          <a:latin typeface="Times New Roman" panose="02020603050405020304" pitchFamily="18" charset="0"/>
                          <a:cs typeface="Times New Roman" panose="02020603050405020304" pitchFamily="18" charset="0"/>
                        </a:rPr>
                        <a:t>Storage</a:t>
                      </a:r>
                    </a:p>
                  </a:txBody>
                  <a:tcPr anchor="ctr"/>
                </a:tc>
                <a:tc>
                  <a:txBody>
                    <a:bodyPr/>
                    <a:lstStyle/>
                    <a:p>
                      <a:r>
                        <a:rPr lang="en-US" dirty="0">
                          <a:latin typeface="Times New Roman" panose="02020603050405020304" pitchFamily="18" charset="0"/>
                          <a:cs typeface="Times New Roman" panose="02020603050405020304" pitchFamily="18" charset="0"/>
                        </a:rPr>
                        <a:t>256 GB SSD</a:t>
                      </a:r>
                    </a:p>
                  </a:txBody>
                  <a:tcPr/>
                </a:tc>
                <a:tc>
                  <a:txBody>
                    <a:bodyPr/>
                    <a:lstStyle/>
                    <a:p>
                      <a:r>
                        <a:rPr lang="en-US" dirty="0">
                          <a:latin typeface="Times New Roman" panose="02020603050405020304" pitchFamily="18" charset="0"/>
                          <a:cs typeface="Times New Roman" panose="02020603050405020304" pitchFamily="18" charset="0"/>
                        </a:rPr>
                        <a:t>512 GB – 1 TB SSD</a:t>
                      </a:r>
                    </a:p>
                  </a:txBody>
                  <a:tcPr/>
                </a:tc>
                <a:tc>
                  <a:txBody>
                    <a:bodyPr/>
                    <a:lstStyle/>
                    <a:p>
                      <a:r>
                        <a:rPr lang="en-US" dirty="0">
                          <a:latin typeface="Times New Roman" panose="02020603050405020304" pitchFamily="18" charset="0"/>
                          <a:cs typeface="Times New Roman" panose="02020603050405020304" pitchFamily="18" charset="0"/>
                        </a:rPr>
                        <a:t>Stores research papers, embeddings, and models</a:t>
                      </a:r>
                    </a:p>
                  </a:txBody>
                  <a:tcPr/>
                </a:tc>
                <a:extLst>
                  <a:ext uri="{0D108BD9-81ED-4DB2-BD59-A6C34878D82A}">
                    <a16:rowId xmlns:a16="http://schemas.microsoft.com/office/drawing/2014/main" val="4004605039"/>
                  </a:ext>
                </a:extLst>
              </a:tr>
              <a:tr h="473493">
                <a:tc>
                  <a:txBody>
                    <a:bodyPr/>
                    <a:lstStyle/>
                    <a:p>
                      <a:r>
                        <a:rPr lang="en-US" b="0" dirty="0">
                          <a:latin typeface="Times New Roman" panose="02020603050405020304" pitchFamily="18" charset="0"/>
                          <a:cs typeface="Times New Roman" panose="02020603050405020304" pitchFamily="18" charset="0"/>
                        </a:rPr>
                        <a:t>GPU (for AI tasks)</a:t>
                      </a:r>
                    </a:p>
                  </a:txBody>
                  <a:tcPr anchor="ctr"/>
                </a:tc>
                <a:tc>
                  <a:txBody>
                    <a:bodyPr/>
                    <a:lstStyle/>
                    <a:p>
                      <a:r>
                        <a:rPr lang="en-US" dirty="0">
                          <a:latin typeface="Times New Roman" panose="02020603050405020304" pitchFamily="18" charset="0"/>
                          <a:cs typeface="Times New Roman" panose="02020603050405020304" pitchFamily="18" charset="0"/>
                        </a:rPr>
                        <a:t>Optional</a:t>
                      </a:r>
                    </a:p>
                  </a:txBody>
                  <a:tcPr/>
                </a:tc>
                <a:tc>
                  <a:txBody>
                    <a:bodyPr/>
                    <a:lstStyle/>
                    <a:p>
                      <a:r>
                        <a:rPr lang="en-US" dirty="0">
                          <a:latin typeface="Times New Roman" panose="02020603050405020304" pitchFamily="18" charset="0"/>
                          <a:cs typeface="Times New Roman" panose="02020603050405020304" pitchFamily="18" charset="0"/>
                        </a:rPr>
                        <a:t>NVIDIA RTX 3060 or above</a:t>
                      </a:r>
                    </a:p>
                  </a:txBody>
                  <a:tcPr/>
                </a:tc>
                <a:tc>
                  <a:txBody>
                    <a:bodyPr/>
                    <a:lstStyle/>
                    <a:p>
                      <a:r>
                        <a:rPr lang="en-US" dirty="0">
                          <a:latin typeface="Times New Roman" panose="02020603050405020304" pitchFamily="18" charset="0"/>
                          <a:cs typeface="Times New Roman" panose="02020603050405020304" pitchFamily="18" charset="0"/>
                        </a:rPr>
                        <a:t>Speeds up BERT/</a:t>
                      </a:r>
                      <a:r>
                        <a:rPr lang="en-US" dirty="0" err="1">
                          <a:latin typeface="Times New Roman" panose="02020603050405020304" pitchFamily="18" charset="0"/>
                          <a:cs typeface="Times New Roman" panose="02020603050405020304" pitchFamily="18" charset="0"/>
                        </a:rPr>
                        <a:t>SciBERT</a:t>
                      </a:r>
                      <a:r>
                        <a:rPr lang="en-US" dirty="0">
                          <a:latin typeface="Times New Roman" panose="02020603050405020304" pitchFamily="18" charset="0"/>
                          <a:cs typeface="Times New Roman" panose="02020603050405020304" pitchFamily="18" charset="0"/>
                        </a:rPr>
                        <a:t> model inference</a:t>
                      </a:r>
                    </a:p>
                  </a:txBody>
                  <a:tcPr/>
                </a:tc>
                <a:extLst>
                  <a:ext uri="{0D108BD9-81ED-4DB2-BD59-A6C34878D82A}">
                    <a16:rowId xmlns:a16="http://schemas.microsoft.com/office/drawing/2014/main" val="3978840314"/>
                  </a:ext>
                </a:extLst>
              </a:tr>
              <a:tr h="473493">
                <a:tc>
                  <a:txBody>
                    <a:bodyPr/>
                    <a:lstStyle/>
                    <a:p>
                      <a:r>
                        <a:rPr lang="en-US" b="0" dirty="0">
                          <a:latin typeface="Times New Roman" panose="02020603050405020304" pitchFamily="18" charset="0"/>
                          <a:cs typeface="Times New Roman" panose="02020603050405020304" pitchFamily="18" charset="0"/>
                        </a:rPr>
                        <a:t>Internet</a:t>
                      </a:r>
                    </a:p>
                  </a:txBody>
                  <a:tcPr anchor="ctr"/>
                </a:tc>
                <a:tc>
                  <a:txBody>
                    <a:bodyPr/>
                    <a:lstStyle/>
                    <a:p>
                      <a:r>
                        <a:rPr lang="en-US" dirty="0">
                          <a:latin typeface="Times New Roman" panose="02020603050405020304" pitchFamily="18" charset="0"/>
                          <a:cs typeface="Times New Roman" panose="02020603050405020304" pitchFamily="18" charset="0"/>
                        </a:rPr>
                        <a:t>Stable broadband</a:t>
                      </a:r>
                    </a:p>
                  </a:txBody>
                  <a:tcPr/>
                </a:tc>
                <a:tc>
                  <a:txBody>
                    <a:bodyPr/>
                    <a:lstStyle/>
                    <a:p>
                      <a:r>
                        <a:rPr lang="en-US" dirty="0">
                          <a:latin typeface="Times New Roman" panose="02020603050405020304" pitchFamily="18" charset="0"/>
                          <a:cs typeface="Times New Roman" panose="02020603050405020304" pitchFamily="18" charset="0"/>
                        </a:rPr>
                        <a:t>High-speed connection</a:t>
                      </a:r>
                    </a:p>
                  </a:txBody>
                  <a:tcPr/>
                </a:tc>
                <a:tc>
                  <a:txBody>
                    <a:bodyPr/>
                    <a:lstStyle/>
                    <a:p>
                      <a:r>
                        <a:rPr lang="en-US" dirty="0">
                          <a:latin typeface="Times New Roman" panose="02020603050405020304" pitchFamily="18" charset="0"/>
                          <a:cs typeface="Times New Roman" panose="02020603050405020304" pitchFamily="18" charset="0"/>
                        </a:rPr>
                        <a:t>For accessing online models, APIs, papers</a:t>
                      </a:r>
                    </a:p>
                  </a:txBody>
                  <a:tcPr/>
                </a:tc>
                <a:extLst>
                  <a:ext uri="{0D108BD9-81ED-4DB2-BD59-A6C34878D82A}">
                    <a16:rowId xmlns:a16="http://schemas.microsoft.com/office/drawing/2014/main" val="3546883076"/>
                  </a:ext>
                </a:extLst>
              </a:tr>
              <a:tr h="473493">
                <a:tc>
                  <a:txBody>
                    <a:bodyPr/>
                    <a:lstStyle/>
                    <a:p>
                      <a:r>
                        <a:rPr lang="en-US" b="0" dirty="0">
                          <a:latin typeface="Times New Roman" panose="02020603050405020304" pitchFamily="18" charset="0"/>
                          <a:cs typeface="Times New Roman" panose="02020603050405020304" pitchFamily="18" charset="0"/>
                        </a:rPr>
                        <a:t>OS</a:t>
                      </a:r>
                    </a:p>
                  </a:txBody>
                  <a:tcPr anchor="ctr"/>
                </a:tc>
                <a:tc>
                  <a:txBody>
                    <a:bodyPr/>
                    <a:lstStyle/>
                    <a:p>
                      <a:r>
                        <a:rPr lang="en-US" dirty="0">
                          <a:latin typeface="Times New Roman" panose="02020603050405020304" pitchFamily="18" charset="0"/>
                          <a:cs typeface="Times New Roman" panose="02020603050405020304" pitchFamily="18" charset="0"/>
                        </a:rPr>
                        <a:t>Windows 10/11 or Ubuntu 22.04</a:t>
                      </a:r>
                    </a:p>
                  </a:txBody>
                  <a:tcPr/>
                </a:tc>
                <a:tc>
                  <a:txBody>
                    <a:bodyPr/>
                    <a:lstStyle/>
                    <a:p>
                      <a:r>
                        <a:rPr lang="en-US" dirty="0">
                          <a:latin typeface="Times New Roman" panose="02020603050405020304" pitchFamily="18" charset="0"/>
                          <a:cs typeface="Times New Roman" panose="02020603050405020304" pitchFamily="18" charset="0"/>
                        </a:rPr>
                        <a:t>Ubuntu 22.04 LTS</a:t>
                      </a:r>
                    </a:p>
                  </a:txBody>
                  <a:tcPr/>
                </a:tc>
                <a:tc>
                  <a:txBody>
                    <a:bodyPr/>
                    <a:lstStyle/>
                    <a:p>
                      <a:r>
                        <a:rPr lang="en-US" dirty="0">
                          <a:latin typeface="Times New Roman" panose="02020603050405020304" pitchFamily="18" charset="0"/>
                          <a:cs typeface="Times New Roman" panose="02020603050405020304" pitchFamily="18" charset="0"/>
                        </a:rPr>
                        <a:t>Stable environment for ML frameworks</a:t>
                      </a:r>
                    </a:p>
                  </a:txBody>
                  <a:tcPr/>
                </a:tc>
                <a:extLst>
                  <a:ext uri="{0D108BD9-81ED-4DB2-BD59-A6C34878D82A}">
                    <a16:rowId xmlns:a16="http://schemas.microsoft.com/office/drawing/2014/main" val="2256120663"/>
                  </a:ext>
                </a:extLst>
              </a:tr>
            </a:tbl>
          </a:graphicData>
        </a:graphic>
      </p:graphicFrame>
    </p:spTree>
    <p:extLst>
      <p:ext uri="{BB962C8B-B14F-4D97-AF65-F5344CB8AC3E}">
        <p14:creationId xmlns:p14="http://schemas.microsoft.com/office/powerpoint/2010/main" val="3373760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66D2A-C02A-4339-B507-B1F52D0B4C6E}"/>
              </a:ext>
            </a:extLst>
          </p:cNvPr>
          <p:cNvSpPr>
            <a:spLocks noGrp="1"/>
          </p:cNvSpPr>
          <p:nvPr>
            <p:ph type="title"/>
          </p:nvPr>
        </p:nvSpPr>
        <p:spPr>
          <a:xfrm>
            <a:off x="2231136" y="713679"/>
            <a:ext cx="7729728" cy="1188720"/>
          </a:xfrm>
        </p:spPr>
        <p:txBody>
          <a:bodyPr/>
          <a:lstStyle/>
          <a:p>
            <a:r>
              <a:rPr lang="en-US" dirty="0"/>
              <a:t>Software requirements</a:t>
            </a:r>
          </a:p>
        </p:txBody>
      </p:sp>
      <p:graphicFrame>
        <p:nvGraphicFramePr>
          <p:cNvPr id="5" name="Table 5">
            <a:extLst>
              <a:ext uri="{FF2B5EF4-FFF2-40B4-BE49-F238E27FC236}">
                <a16:creationId xmlns:a16="http://schemas.microsoft.com/office/drawing/2014/main" id="{62936FF5-18C6-45C3-B777-40284C4945E1}"/>
              </a:ext>
            </a:extLst>
          </p:cNvPr>
          <p:cNvGraphicFramePr>
            <a:graphicFrameLocks noGrp="1"/>
          </p:cNvGraphicFramePr>
          <p:nvPr>
            <p:ph idx="1"/>
            <p:extLst>
              <p:ext uri="{D42A27DB-BD31-4B8C-83A1-F6EECF244321}">
                <p14:modId xmlns:p14="http://schemas.microsoft.com/office/powerpoint/2010/main" val="733923816"/>
              </p:ext>
            </p:extLst>
          </p:nvPr>
        </p:nvGraphicFramePr>
        <p:xfrm>
          <a:off x="793377" y="1989805"/>
          <a:ext cx="10605246" cy="4706828"/>
        </p:xfrm>
        <a:graphic>
          <a:graphicData uri="http://schemas.openxmlformats.org/drawingml/2006/table">
            <a:tbl>
              <a:tblPr firstRow="1" bandRow="1">
                <a:tableStyleId>{5940675A-B579-460E-94D1-54222C63F5DA}</a:tableStyleId>
              </a:tblPr>
              <a:tblGrid>
                <a:gridCol w="3535082">
                  <a:extLst>
                    <a:ext uri="{9D8B030D-6E8A-4147-A177-3AD203B41FA5}">
                      <a16:colId xmlns:a16="http://schemas.microsoft.com/office/drawing/2014/main" val="4096137000"/>
                    </a:ext>
                  </a:extLst>
                </a:gridCol>
                <a:gridCol w="3535082">
                  <a:extLst>
                    <a:ext uri="{9D8B030D-6E8A-4147-A177-3AD203B41FA5}">
                      <a16:colId xmlns:a16="http://schemas.microsoft.com/office/drawing/2014/main" val="2738989066"/>
                    </a:ext>
                  </a:extLst>
                </a:gridCol>
                <a:gridCol w="3535082">
                  <a:extLst>
                    <a:ext uri="{9D8B030D-6E8A-4147-A177-3AD203B41FA5}">
                      <a16:colId xmlns:a16="http://schemas.microsoft.com/office/drawing/2014/main" val="4034692339"/>
                    </a:ext>
                  </a:extLst>
                </a:gridCol>
              </a:tblGrid>
              <a:tr h="494386">
                <a:tc>
                  <a:txBody>
                    <a:bodyPr/>
                    <a:lstStyle/>
                    <a:p>
                      <a:r>
                        <a:rPr lang="en-US" dirty="0">
                          <a:latin typeface="Times New Roman" panose="02020603050405020304" pitchFamily="18" charset="0"/>
                          <a:cs typeface="Times New Roman" panose="02020603050405020304" pitchFamily="18" charset="0"/>
                        </a:rPr>
                        <a:t> Category </a:t>
                      </a:r>
                    </a:p>
                  </a:txBody>
                  <a:tcPr/>
                </a:tc>
                <a:tc>
                  <a:txBody>
                    <a:bodyPr/>
                    <a:lstStyle/>
                    <a:p>
                      <a:r>
                        <a:rPr lang="en-US" dirty="0">
                          <a:latin typeface="Times New Roman" panose="02020603050405020304" pitchFamily="18" charset="0"/>
                          <a:cs typeface="Times New Roman" panose="02020603050405020304" pitchFamily="18" charset="0"/>
                        </a:rPr>
                        <a:t>Tool / Library</a:t>
                      </a:r>
                    </a:p>
                  </a:txBody>
                  <a:tcPr/>
                </a:tc>
                <a:tc>
                  <a:txBody>
                    <a:bodyPr/>
                    <a:lstStyle/>
                    <a:p>
                      <a:r>
                        <a:rPr lang="en-US" dirty="0">
                          <a:latin typeface="Times New Roman" panose="02020603050405020304" pitchFamily="18" charset="0"/>
                          <a:cs typeface="Times New Roman" panose="02020603050405020304" pitchFamily="18" charset="0"/>
                        </a:rPr>
                        <a:t>Purpose / Function</a:t>
                      </a:r>
                    </a:p>
                  </a:txBody>
                  <a:tcPr/>
                </a:tc>
                <a:extLst>
                  <a:ext uri="{0D108BD9-81ED-4DB2-BD59-A6C34878D82A}">
                    <a16:rowId xmlns:a16="http://schemas.microsoft.com/office/drawing/2014/main" val="4253531342"/>
                  </a:ext>
                </a:extLst>
              </a:tr>
              <a:tr h="644734">
                <a:tc>
                  <a:txBody>
                    <a:bodyPr/>
                    <a:lstStyle/>
                    <a:p>
                      <a:r>
                        <a:rPr lang="en-US" dirty="0">
                          <a:latin typeface="Times New Roman" panose="02020603050405020304" pitchFamily="18" charset="0"/>
                          <a:cs typeface="Times New Roman" panose="02020603050405020304" pitchFamily="18" charset="0"/>
                        </a:rPr>
                        <a:t>Programming Language </a:t>
                      </a:r>
                    </a:p>
                  </a:txBody>
                  <a:tcPr/>
                </a:tc>
                <a:tc>
                  <a:txBody>
                    <a:bodyPr/>
                    <a:lstStyle/>
                    <a:p>
                      <a:r>
                        <a:rPr lang="en-US" dirty="0">
                          <a:latin typeface="Times New Roman" panose="02020603050405020304" pitchFamily="18" charset="0"/>
                          <a:cs typeface="Times New Roman" panose="02020603050405020304" pitchFamily="18" charset="0"/>
                        </a:rPr>
                        <a:t>Python 3.9+</a:t>
                      </a:r>
                    </a:p>
                  </a:txBody>
                  <a:tcPr/>
                </a:tc>
                <a:tc>
                  <a:txBody>
                    <a:bodyPr/>
                    <a:lstStyle/>
                    <a:p>
                      <a:r>
                        <a:rPr lang="en-US" dirty="0">
                          <a:latin typeface="Times New Roman" panose="02020603050405020304" pitchFamily="18" charset="0"/>
                          <a:cs typeface="Times New Roman" panose="02020603050405020304" pitchFamily="18" charset="0"/>
                        </a:rPr>
                        <a:t>Core language for all project modules </a:t>
                      </a:r>
                    </a:p>
                  </a:txBody>
                  <a:tcPr/>
                </a:tc>
                <a:extLst>
                  <a:ext uri="{0D108BD9-81ED-4DB2-BD59-A6C34878D82A}">
                    <a16:rowId xmlns:a16="http://schemas.microsoft.com/office/drawing/2014/main" val="2007014109"/>
                  </a:ext>
                </a:extLst>
              </a:tr>
              <a:tr h="644734">
                <a:tc>
                  <a:txBody>
                    <a:bodyPr/>
                    <a:lstStyle/>
                    <a:p>
                      <a:r>
                        <a:rPr lang="en-US" dirty="0">
                          <a:latin typeface="Times New Roman" panose="02020603050405020304" pitchFamily="18" charset="0"/>
                          <a:cs typeface="Times New Roman" panose="02020603050405020304" pitchFamily="18" charset="0"/>
                        </a:rPr>
                        <a:t>NLP &amp; AI Frameworks </a:t>
                      </a:r>
                    </a:p>
                  </a:txBody>
                  <a:tcPr/>
                </a:tc>
                <a:tc>
                  <a:txBody>
                    <a:bodyPr/>
                    <a:lstStyle/>
                    <a:p>
                      <a:r>
                        <a:rPr lang="en-US" dirty="0">
                          <a:latin typeface="Times New Roman" panose="02020603050405020304" pitchFamily="18" charset="0"/>
                          <a:cs typeface="Times New Roman" panose="02020603050405020304" pitchFamily="18" charset="0"/>
                        </a:rPr>
                        <a:t>Hugging Face Transformers, </a:t>
                      </a:r>
                      <a:r>
                        <a:rPr lang="en-US" dirty="0" err="1">
                          <a:latin typeface="Times New Roman" panose="02020603050405020304" pitchFamily="18" charset="0"/>
                          <a:cs typeface="Times New Roman" panose="02020603050405020304" pitchFamily="18" charset="0"/>
                        </a:rPr>
                        <a:t>PyTorch</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Enables BERT/</a:t>
                      </a:r>
                      <a:r>
                        <a:rPr lang="en-US" dirty="0" err="1">
                          <a:latin typeface="Times New Roman" panose="02020603050405020304" pitchFamily="18" charset="0"/>
                          <a:cs typeface="Times New Roman" panose="02020603050405020304" pitchFamily="18" charset="0"/>
                        </a:rPr>
                        <a:t>SciBERT</a:t>
                      </a:r>
                      <a:r>
                        <a:rPr lang="en-US" dirty="0">
                          <a:latin typeface="Times New Roman" panose="02020603050405020304" pitchFamily="18" charset="0"/>
                          <a:cs typeface="Times New Roman" panose="02020603050405020304" pitchFamily="18" charset="0"/>
                        </a:rPr>
                        <a:t>-based semantic analysis</a:t>
                      </a:r>
                    </a:p>
                  </a:txBody>
                  <a:tcPr/>
                </a:tc>
                <a:extLst>
                  <a:ext uri="{0D108BD9-81ED-4DB2-BD59-A6C34878D82A}">
                    <a16:rowId xmlns:a16="http://schemas.microsoft.com/office/drawing/2014/main" val="1818134452"/>
                  </a:ext>
                </a:extLst>
              </a:tr>
              <a:tr h="644734">
                <a:tc>
                  <a:txBody>
                    <a:bodyPr/>
                    <a:lstStyle/>
                    <a:p>
                      <a:r>
                        <a:rPr lang="en-US" dirty="0">
                          <a:latin typeface="Times New Roman" panose="02020603050405020304" pitchFamily="18" charset="0"/>
                          <a:cs typeface="Times New Roman" panose="02020603050405020304" pitchFamily="18" charset="0"/>
                        </a:rPr>
                        <a:t>PDF &amp; Data Processing</a:t>
                      </a:r>
                    </a:p>
                  </a:txBody>
                  <a:tcPr/>
                </a:tc>
                <a:tc>
                  <a:txBody>
                    <a:bodyPr/>
                    <a:lstStyle/>
                    <a:p>
                      <a:r>
                        <a:rPr lang="en-US" dirty="0" err="1">
                          <a:latin typeface="Times New Roman" panose="02020603050405020304" pitchFamily="18" charset="0"/>
                          <a:cs typeface="Times New Roman" panose="02020603050405020304" pitchFamily="18" charset="0"/>
                        </a:rPr>
                        <a:t>PyMuPDF</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fitz</a:t>
                      </a:r>
                      <a:r>
                        <a:rPr lang="en-US" dirty="0">
                          <a:latin typeface="Times New Roman" panose="02020603050405020304" pitchFamily="18" charset="0"/>
                          <a:cs typeface="Times New Roman" panose="02020603050405020304" pitchFamily="18" charset="0"/>
                        </a:rPr>
                        <a:t>), Pandas, Scikit-learn </a:t>
                      </a:r>
                    </a:p>
                  </a:txBody>
                  <a:tcPr/>
                </a:tc>
                <a:tc>
                  <a:txBody>
                    <a:bodyPr/>
                    <a:lstStyle/>
                    <a:p>
                      <a:r>
                        <a:rPr lang="en-US" dirty="0">
                          <a:latin typeface="Times New Roman" panose="02020603050405020304" pitchFamily="18" charset="0"/>
                          <a:cs typeface="Times New Roman" panose="02020603050405020304" pitchFamily="18" charset="0"/>
                        </a:rPr>
                        <a:t>Extracts and preprocesses research paper data</a:t>
                      </a:r>
                    </a:p>
                  </a:txBody>
                  <a:tcPr/>
                </a:tc>
                <a:extLst>
                  <a:ext uri="{0D108BD9-81ED-4DB2-BD59-A6C34878D82A}">
                    <a16:rowId xmlns:a16="http://schemas.microsoft.com/office/drawing/2014/main" val="3888145919"/>
                  </a:ext>
                </a:extLst>
              </a:tr>
              <a:tr h="644734">
                <a:tc>
                  <a:txBody>
                    <a:bodyPr/>
                    <a:lstStyle/>
                    <a:p>
                      <a:r>
                        <a:rPr lang="en-US" dirty="0">
                          <a:latin typeface="Times New Roman" panose="02020603050405020304" pitchFamily="18" charset="0"/>
                          <a:cs typeface="Times New Roman" panose="02020603050405020304" pitchFamily="18" charset="0"/>
                        </a:rPr>
                        <a:t>Database</a:t>
                      </a:r>
                    </a:p>
                  </a:txBody>
                  <a:tcPr/>
                </a:tc>
                <a:tc>
                  <a:txBody>
                    <a:bodyPr/>
                    <a:lstStyle/>
                    <a:p>
                      <a:r>
                        <a:rPr lang="en-US" dirty="0">
                          <a:latin typeface="Times New Roman" panose="02020603050405020304" pitchFamily="18" charset="0"/>
                          <a:cs typeface="Times New Roman" panose="02020603050405020304" pitchFamily="18" charset="0"/>
                        </a:rPr>
                        <a:t>MongoDB / PostgreSQL</a:t>
                      </a:r>
                    </a:p>
                  </a:txBody>
                  <a:tcPr/>
                </a:tc>
                <a:tc>
                  <a:txBody>
                    <a:bodyPr/>
                    <a:lstStyle/>
                    <a:p>
                      <a:r>
                        <a:rPr lang="en-US" dirty="0">
                          <a:latin typeface="Times New Roman" panose="02020603050405020304" pitchFamily="18" charset="0"/>
                          <a:cs typeface="Times New Roman" panose="02020603050405020304" pitchFamily="18" charset="0"/>
                        </a:rPr>
                        <a:t>Stores papers, metadata, and embeddings </a:t>
                      </a:r>
                    </a:p>
                  </a:txBody>
                  <a:tcPr/>
                </a:tc>
                <a:extLst>
                  <a:ext uri="{0D108BD9-81ED-4DB2-BD59-A6C34878D82A}">
                    <a16:rowId xmlns:a16="http://schemas.microsoft.com/office/drawing/2014/main" val="769885234"/>
                  </a:ext>
                </a:extLst>
              </a:tr>
              <a:tr h="494386">
                <a:tc>
                  <a:txBody>
                    <a:bodyPr/>
                    <a:lstStyle/>
                    <a:p>
                      <a:r>
                        <a:rPr lang="en-US" dirty="0">
                          <a:latin typeface="Times New Roman" panose="02020603050405020304" pitchFamily="18" charset="0"/>
                          <a:cs typeface="Times New Roman" panose="02020603050405020304" pitchFamily="18" charset="0"/>
                        </a:rPr>
                        <a:t>Web &amp; API Framework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MongoDB / PostgreSQL</a:t>
                      </a:r>
                    </a:p>
                  </a:txBody>
                  <a:tcPr/>
                </a:tc>
                <a:tc>
                  <a:txBody>
                    <a:bodyPr/>
                    <a:lstStyle/>
                    <a:p>
                      <a:r>
                        <a:rPr lang="en-US" dirty="0">
                          <a:latin typeface="Times New Roman" panose="02020603050405020304" pitchFamily="18" charset="0"/>
                          <a:cs typeface="Times New Roman" panose="02020603050405020304" pitchFamily="18" charset="0"/>
                        </a:rPr>
                        <a:t>Builds backend and API interface</a:t>
                      </a:r>
                    </a:p>
                  </a:txBody>
                  <a:tcPr/>
                </a:tc>
                <a:extLst>
                  <a:ext uri="{0D108BD9-81ED-4DB2-BD59-A6C34878D82A}">
                    <a16:rowId xmlns:a16="http://schemas.microsoft.com/office/drawing/2014/main" val="2342927166"/>
                  </a:ext>
                </a:extLst>
              </a:tr>
              <a:tr h="494386">
                <a:tc>
                  <a:txBody>
                    <a:bodyPr/>
                    <a:lstStyle/>
                    <a:p>
                      <a:r>
                        <a:rPr lang="en-US" dirty="0">
                          <a:latin typeface="Times New Roman" panose="02020603050405020304" pitchFamily="18" charset="0"/>
                          <a:cs typeface="Times New Roman" panose="02020603050405020304" pitchFamily="18" charset="0"/>
                        </a:rPr>
                        <a:t>UI / Visualization</a:t>
                      </a:r>
                    </a:p>
                  </a:txBody>
                  <a:tcPr/>
                </a:tc>
                <a:tc>
                  <a:txBody>
                    <a:bodyPr/>
                    <a:lstStyle/>
                    <a:p>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Gradio</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Interactive research insight interface</a:t>
                      </a:r>
                    </a:p>
                  </a:txBody>
                  <a:tcPr/>
                </a:tc>
                <a:extLst>
                  <a:ext uri="{0D108BD9-81ED-4DB2-BD59-A6C34878D82A}">
                    <a16:rowId xmlns:a16="http://schemas.microsoft.com/office/drawing/2014/main" val="2634860896"/>
                  </a:ext>
                </a:extLst>
              </a:tr>
              <a:tr h="644734">
                <a:tc>
                  <a:txBody>
                    <a:bodyPr/>
                    <a:lstStyle/>
                    <a:p>
                      <a:r>
                        <a:rPr lang="en-US" dirty="0">
                          <a:latin typeface="Times New Roman" panose="02020603050405020304" pitchFamily="18" charset="0"/>
                          <a:cs typeface="Times New Roman" panose="02020603050405020304" pitchFamily="18" charset="0"/>
                        </a:rPr>
                        <a:t>Deployment &amp; Version Control</a:t>
                      </a:r>
                    </a:p>
                  </a:txBody>
                  <a:tcPr/>
                </a:tc>
                <a:tc>
                  <a:txBody>
                    <a:bodyPr/>
                    <a:lstStyle/>
                    <a:p>
                      <a:r>
                        <a:rPr lang="en-US" dirty="0">
                          <a:latin typeface="Times New Roman" panose="02020603050405020304" pitchFamily="18" charset="0"/>
                          <a:cs typeface="Times New Roman" panose="02020603050405020304" pitchFamily="18" charset="0"/>
                        </a:rPr>
                        <a:t>Docker, Git &amp; GitHub</a:t>
                      </a:r>
                    </a:p>
                  </a:txBody>
                  <a:tcPr/>
                </a:tc>
                <a:tc>
                  <a:txBody>
                    <a:bodyPr/>
                    <a:lstStyle/>
                    <a:p>
                      <a:r>
                        <a:rPr lang="en-US" dirty="0">
                          <a:latin typeface="Times New Roman" panose="02020603050405020304" pitchFamily="18" charset="0"/>
                          <a:cs typeface="Times New Roman" panose="02020603050405020304" pitchFamily="18" charset="0"/>
                        </a:rPr>
                        <a:t>Packaging, deployment, and version management</a:t>
                      </a:r>
                    </a:p>
                  </a:txBody>
                  <a:tcPr/>
                </a:tc>
                <a:extLst>
                  <a:ext uri="{0D108BD9-81ED-4DB2-BD59-A6C34878D82A}">
                    <a16:rowId xmlns:a16="http://schemas.microsoft.com/office/drawing/2014/main" val="3185795655"/>
                  </a:ext>
                </a:extLst>
              </a:tr>
            </a:tbl>
          </a:graphicData>
        </a:graphic>
      </p:graphicFrame>
    </p:spTree>
    <p:extLst>
      <p:ext uri="{BB962C8B-B14F-4D97-AF65-F5344CB8AC3E}">
        <p14:creationId xmlns:p14="http://schemas.microsoft.com/office/powerpoint/2010/main" val="2871868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Technologies used</a:t>
            </a:r>
          </a:p>
        </p:txBody>
      </p:sp>
      <p:graphicFrame>
        <p:nvGraphicFramePr>
          <p:cNvPr id="4" name="Content Placeholder 3"/>
          <p:cNvGraphicFramePr>
            <a:graphicFrameLocks noGrp="1"/>
          </p:cNvGraphicFramePr>
          <p:nvPr>
            <p:ph idx="1"/>
          </p:nvPr>
        </p:nvGraphicFramePr>
        <p:xfrm>
          <a:off x="2209173" y="2383244"/>
          <a:ext cx="7731126" cy="4241800"/>
        </p:xfrm>
        <a:graphic>
          <a:graphicData uri="http://schemas.openxmlformats.org/drawingml/2006/table">
            <a:tbl>
              <a:tblPr firstRow="1" bandRow="1">
                <a:tableStyleId>{5940675A-B579-460E-94D1-54222C63F5DA}</a:tableStyleId>
              </a:tblPr>
              <a:tblGrid>
                <a:gridCol w="2577042">
                  <a:extLst>
                    <a:ext uri="{9D8B030D-6E8A-4147-A177-3AD203B41FA5}">
                      <a16:colId xmlns:a16="http://schemas.microsoft.com/office/drawing/2014/main" val="20000"/>
                    </a:ext>
                  </a:extLst>
                </a:gridCol>
                <a:gridCol w="2577042">
                  <a:extLst>
                    <a:ext uri="{9D8B030D-6E8A-4147-A177-3AD203B41FA5}">
                      <a16:colId xmlns:a16="http://schemas.microsoft.com/office/drawing/2014/main" val="20001"/>
                    </a:ext>
                  </a:extLst>
                </a:gridCol>
                <a:gridCol w="2577042">
                  <a:extLst>
                    <a:ext uri="{9D8B030D-6E8A-4147-A177-3AD203B41FA5}">
                      <a16:colId xmlns:a16="http://schemas.microsoft.com/office/drawing/2014/main" val="20002"/>
                    </a:ext>
                  </a:extLst>
                </a:gridCol>
              </a:tblGrid>
              <a:tr h="370840">
                <a:tc>
                  <a:txBody>
                    <a:bodyPr/>
                    <a:lstStyle/>
                    <a:p>
                      <a:pPr algn="ctr"/>
                      <a:r>
                        <a:rPr lang="en-US" b="1" dirty="0">
                          <a:latin typeface="Times New Roman" pitchFamily="18" charset="0"/>
                          <a:cs typeface="Times New Roman" pitchFamily="18" charset="0"/>
                        </a:rPr>
                        <a:t>Category</a:t>
                      </a:r>
                    </a:p>
                  </a:txBody>
                  <a:tcPr anchor="ctr"/>
                </a:tc>
                <a:tc>
                  <a:txBody>
                    <a:bodyPr/>
                    <a:lstStyle/>
                    <a:p>
                      <a:pPr algn="ctr"/>
                      <a:r>
                        <a:rPr lang="en-US" b="1" dirty="0">
                          <a:latin typeface="Times New Roman" pitchFamily="18" charset="0"/>
                          <a:cs typeface="Times New Roman" pitchFamily="18" charset="0"/>
                        </a:rPr>
                        <a:t>Technology</a:t>
                      </a:r>
                    </a:p>
                  </a:txBody>
                  <a:tcPr/>
                </a:tc>
                <a:tc>
                  <a:txBody>
                    <a:bodyPr/>
                    <a:lstStyle/>
                    <a:p>
                      <a:pPr algn="ctr"/>
                      <a:r>
                        <a:rPr lang="en-US" b="1" dirty="0">
                          <a:latin typeface="Times New Roman" pitchFamily="18" charset="0"/>
                          <a:cs typeface="Times New Roman" pitchFamily="18" charset="0"/>
                        </a:rPr>
                        <a:t>Purpose</a:t>
                      </a:r>
                    </a:p>
                  </a:txBody>
                  <a:tcPr anchor="ctr"/>
                </a:tc>
                <a:extLst>
                  <a:ext uri="{0D108BD9-81ED-4DB2-BD59-A6C34878D82A}">
                    <a16:rowId xmlns:a16="http://schemas.microsoft.com/office/drawing/2014/main" val="10000"/>
                  </a:ext>
                </a:extLst>
              </a:tr>
              <a:tr h="370840">
                <a:tc>
                  <a:txBody>
                    <a:bodyPr/>
                    <a:lstStyle/>
                    <a:p>
                      <a:r>
                        <a:rPr lang="en-US" sz="1400" dirty="0">
                          <a:latin typeface="Times New Roman" pitchFamily="18" charset="0"/>
                          <a:cs typeface="Times New Roman" pitchFamily="18" charset="0"/>
                        </a:rPr>
                        <a:t>Natural Language Processing (NLP)</a:t>
                      </a:r>
                    </a:p>
                  </a:txBody>
                  <a:tcPr/>
                </a:tc>
                <a:tc>
                  <a:txBody>
                    <a:bodyPr/>
                    <a:lstStyle/>
                    <a:p>
                      <a:r>
                        <a:rPr lang="fr-FR" sz="1400" b="0" dirty="0" err="1">
                          <a:latin typeface="Times New Roman" pitchFamily="18" charset="0"/>
                          <a:cs typeface="Times New Roman" pitchFamily="18" charset="0"/>
                        </a:rPr>
                        <a:t>Transformers</a:t>
                      </a:r>
                      <a:r>
                        <a:rPr lang="fr-FR" sz="1400" b="0" dirty="0">
                          <a:latin typeface="Times New Roman" pitchFamily="18" charset="0"/>
                          <a:cs typeface="Times New Roman" pitchFamily="18" charset="0"/>
                        </a:rPr>
                        <a:t> / Large </a:t>
                      </a:r>
                      <a:r>
                        <a:rPr lang="fr-FR" sz="1400" b="0" dirty="0" err="1">
                          <a:latin typeface="Times New Roman" pitchFamily="18" charset="0"/>
                          <a:cs typeface="Times New Roman" pitchFamily="18" charset="0"/>
                        </a:rPr>
                        <a:t>Language</a:t>
                      </a:r>
                      <a:r>
                        <a:rPr lang="fr-FR" sz="1400" b="0" dirty="0">
                          <a:latin typeface="Times New Roman" pitchFamily="18" charset="0"/>
                          <a:cs typeface="Times New Roman" pitchFamily="18" charset="0"/>
                        </a:rPr>
                        <a:t> </a:t>
                      </a:r>
                      <a:r>
                        <a:rPr lang="fr-FR" sz="1400" b="0" dirty="0" err="1">
                          <a:latin typeface="Times New Roman" pitchFamily="18" charset="0"/>
                          <a:cs typeface="Times New Roman" pitchFamily="18" charset="0"/>
                        </a:rPr>
                        <a:t>Models</a:t>
                      </a:r>
                      <a:r>
                        <a:rPr lang="fr-FR" sz="1400" b="0" dirty="0">
                          <a:latin typeface="Times New Roman" pitchFamily="18" charset="0"/>
                          <a:cs typeface="Times New Roman" pitchFamily="18" charset="0"/>
                        </a:rPr>
                        <a:t> (</a:t>
                      </a:r>
                      <a:r>
                        <a:rPr lang="fr-FR" sz="1400" b="0" dirty="0" err="1">
                          <a:latin typeface="Times New Roman" pitchFamily="18" charset="0"/>
                          <a:cs typeface="Times New Roman" pitchFamily="18" charset="0"/>
                        </a:rPr>
                        <a:t>LLMs</a:t>
                      </a:r>
                      <a:r>
                        <a:rPr lang="fr-FR" sz="1400" b="0" dirty="0">
                          <a:latin typeface="Times New Roman" pitchFamily="18" charset="0"/>
                          <a:cs typeface="Times New Roman" pitchFamily="18" charset="0"/>
                        </a:rPr>
                        <a:t>) — </a:t>
                      </a:r>
                      <a:r>
                        <a:rPr lang="fr-FR" sz="1400" b="0" dirty="0" err="1">
                          <a:latin typeface="Times New Roman" pitchFamily="18" charset="0"/>
                          <a:cs typeface="Times New Roman" pitchFamily="18" charset="0"/>
                        </a:rPr>
                        <a:t>OpenAI</a:t>
                      </a:r>
                      <a:r>
                        <a:rPr lang="fr-FR" sz="1400" b="0" dirty="0">
                          <a:latin typeface="Times New Roman" pitchFamily="18" charset="0"/>
                          <a:cs typeface="Times New Roman" pitchFamily="18" charset="0"/>
                        </a:rPr>
                        <a:t> GPT, BERT, </a:t>
                      </a:r>
                      <a:r>
                        <a:rPr lang="fr-FR" sz="1400" b="0" dirty="0" err="1">
                          <a:latin typeface="Times New Roman" pitchFamily="18" charset="0"/>
                          <a:cs typeface="Times New Roman" pitchFamily="18" charset="0"/>
                        </a:rPr>
                        <a:t>RoBERTa</a:t>
                      </a:r>
                      <a:r>
                        <a:rPr lang="fr-FR" sz="1400" b="0" dirty="0">
                          <a:latin typeface="Times New Roman" pitchFamily="18" charset="0"/>
                          <a:cs typeface="Times New Roman" pitchFamily="18" charset="0"/>
                        </a:rPr>
                        <a:t>, T5</a:t>
                      </a:r>
                      <a:endParaRPr lang="en-US" sz="1400" b="0" dirty="0">
                        <a:latin typeface="Times New Roman" pitchFamily="18" charset="0"/>
                        <a:cs typeface="Times New Roman" pitchFamily="18" charset="0"/>
                      </a:endParaRPr>
                    </a:p>
                  </a:txBody>
                  <a:tcPr/>
                </a:tc>
                <a:tc>
                  <a:txBody>
                    <a:bodyPr/>
                    <a:lstStyle/>
                    <a:p>
                      <a:pPr algn="just"/>
                      <a:r>
                        <a:rPr lang="en-US" sz="1400" dirty="0">
                          <a:latin typeface="Times New Roman" pitchFamily="18" charset="0"/>
                          <a:cs typeface="Times New Roman" pitchFamily="18" charset="0"/>
                        </a:rPr>
                        <a:t>Understanding and summarizing research papers, question answering, keyword extraction, and topic modeling.</a:t>
                      </a:r>
                    </a:p>
                  </a:txBody>
                  <a:tcPr/>
                </a:tc>
                <a:extLst>
                  <a:ext uri="{0D108BD9-81ED-4DB2-BD59-A6C34878D82A}">
                    <a16:rowId xmlns:a16="http://schemas.microsoft.com/office/drawing/2014/main" val="10001"/>
                  </a:ext>
                </a:extLst>
              </a:tr>
              <a:tr h="370840">
                <a:tc>
                  <a:txBody>
                    <a:bodyPr/>
                    <a:lstStyle/>
                    <a:p>
                      <a:r>
                        <a:rPr lang="en-US" sz="1400" dirty="0">
                          <a:latin typeface="Times New Roman" pitchFamily="18" charset="0"/>
                          <a:cs typeface="Times New Roman" pitchFamily="18" charset="0"/>
                        </a:rPr>
                        <a:t>Text Summarization Models</a:t>
                      </a:r>
                    </a:p>
                  </a:txBody>
                  <a:tcPr/>
                </a:tc>
                <a:tc>
                  <a:txBody>
                    <a:bodyPr/>
                    <a:lstStyle/>
                    <a:p>
                      <a:r>
                        <a:rPr lang="en-US" sz="1400" b="0" dirty="0">
                          <a:latin typeface="Times New Roman" pitchFamily="18" charset="0"/>
                          <a:cs typeface="Times New Roman" pitchFamily="18" charset="0"/>
                        </a:rPr>
                        <a:t> BERT, Transformers</a:t>
                      </a:r>
                    </a:p>
                  </a:txBody>
                  <a:tcPr/>
                </a:tc>
                <a:tc>
                  <a:txBody>
                    <a:bodyPr/>
                    <a:lstStyle/>
                    <a:p>
                      <a:pPr algn="just"/>
                      <a:r>
                        <a:rPr lang="en-US" sz="1400" dirty="0">
                          <a:latin typeface="Times New Roman" pitchFamily="18" charset="0"/>
                          <a:cs typeface="Times New Roman" pitchFamily="18" charset="0"/>
                        </a:rPr>
                        <a:t>Generate concise summaries of research papers or abstracts.</a:t>
                      </a:r>
                    </a:p>
                  </a:txBody>
                  <a:tcPr/>
                </a:tc>
                <a:extLst>
                  <a:ext uri="{0D108BD9-81ED-4DB2-BD59-A6C34878D82A}">
                    <a16:rowId xmlns:a16="http://schemas.microsoft.com/office/drawing/2014/main" val="10002"/>
                  </a:ext>
                </a:extLst>
              </a:tr>
              <a:tr h="370840">
                <a:tc>
                  <a:txBody>
                    <a:bodyPr/>
                    <a:lstStyle/>
                    <a:p>
                      <a:r>
                        <a:rPr lang="en-US" sz="1400" dirty="0">
                          <a:latin typeface="Times New Roman" pitchFamily="18" charset="0"/>
                          <a:cs typeface="Times New Roman" pitchFamily="18" charset="0"/>
                        </a:rPr>
                        <a:t>Semantic Search / Embedding Models</a:t>
                      </a:r>
                    </a:p>
                  </a:txBody>
                  <a:tcPr/>
                </a:tc>
                <a:tc>
                  <a:txBody>
                    <a:bodyPr/>
                    <a:lstStyle/>
                    <a:p>
                      <a:r>
                        <a:rPr lang="en-US" sz="1400" b="0" dirty="0">
                          <a:latin typeface="Times New Roman" pitchFamily="18" charset="0"/>
                          <a:cs typeface="Times New Roman" pitchFamily="18" charset="0"/>
                        </a:rPr>
                        <a:t>Sentence-BERT, Hugging-Face</a:t>
                      </a:r>
                      <a:r>
                        <a:rPr lang="en-US" sz="1400" b="0" baseline="0" dirty="0">
                          <a:latin typeface="Times New Roman" pitchFamily="18" charset="0"/>
                          <a:cs typeface="Times New Roman" pitchFamily="18" charset="0"/>
                        </a:rPr>
                        <a:t> transformers T5</a:t>
                      </a:r>
                      <a:endParaRPr lang="en-US" sz="1400" b="0" dirty="0">
                        <a:latin typeface="Times New Roman" pitchFamily="18" charset="0"/>
                        <a:cs typeface="Times New Roman" pitchFamily="18" charset="0"/>
                      </a:endParaRPr>
                    </a:p>
                  </a:txBody>
                  <a:tcPr/>
                </a:tc>
                <a:tc>
                  <a:txBody>
                    <a:bodyPr/>
                    <a:lstStyle/>
                    <a:p>
                      <a:pPr algn="just"/>
                      <a:r>
                        <a:rPr lang="en-US" sz="1400" dirty="0">
                          <a:latin typeface="Times New Roman" pitchFamily="18" charset="0"/>
                          <a:cs typeface="Times New Roman" pitchFamily="18" charset="0"/>
                        </a:rPr>
                        <a:t>Enables semantic search—finding conceptually related papers, not just keyword matches.</a:t>
                      </a:r>
                    </a:p>
                  </a:txBody>
                  <a:tcPr/>
                </a:tc>
                <a:extLst>
                  <a:ext uri="{0D108BD9-81ED-4DB2-BD59-A6C34878D82A}">
                    <a16:rowId xmlns:a16="http://schemas.microsoft.com/office/drawing/2014/main" val="10003"/>
                  </a:ext>
                </a:extLst>
              </a:tr>
              <a:tr h="370840">
                <a:tc>
                  <a:txBody>
                    <a:bodyPr/>
                    <a:lstStyle/>
                    <a:p>
                      <a:r>
                        <a:rPr lang="en-US" sz="1400" dirty="0">
                          <a:latin typeface="Times New Roman" pitchFamily="18" charset="0"/>
                          <a:cs typeface="Times New Roman" pitchFamily="18" charset="0"/>
                        </a:rPr>
                        <a:t>Topic Modeling</a:t>
                      </a:r>
                    </a:p>
                  </a:txBody>
                  <a:tcPr/>
                </a:tc>
                <a:tc>
                  <a:txBody>
                    <a:bodyPr/>
                    <a:lstStyle/>
                    <a:p>
                      <a:r>
                        <a:rPr lang="en-US" sz="1400" dirty="0" err="1">
                          <a:latin typeface="Times New Roman" pitchFamily="18" charset="0"/>
                          <a:cs typeface="Times New Roman" pitchFamily="18" charset="0"/>
                        </a:rPr>
                        <a:t>BERTopic</a:t>
                      </a:r>
                      <a:r>
                        <a:rPr lang="en-US" sz="1400" dirty="0">
                          <a:latin typeface="Times New Roman" pitchFamily="18" charset="0"/>
                          <a:cs typeface="Times New Roman" pitchFamily="18" charset="0"/>
                        </a:rPr>
                        <a:t>, LDA</a:t>
                      </a:r>
                    </a:p>
                  </a:txBody>
                  <a:tcPr/>
                </a:tc>
                <a:tc>
                  <a:txBody>
                    <a:bodyPr/>
                    <a:lstStyle/>
                    <a:p>
                      <a:pPr algn="just"/>
                      <a:r>
                        <a:rPr lang="en-US" sz="1400" dirty="0">
                          <a:latin typeface="Times New Roman" pitchFamily="18" charset="0"/>
                          <a:cs typeface="Times New Roman" pitchFamily="18" charset="0"/>
                        </a:rPr>
                        <a:t>Identify main research themes and trends from large document corpora.</a:t>
                      </a:r>
                    </a:p>
                  </a:txBody>
                  <a:tcPr/>
                </a:tc>
                <a:extLst>
                  <a:ext uri="{0D108BD9-81ED-4DB2-BD59-A6C34878D82A}">
                    <a16:rowId xmlns:a16="http://schemas.microsoft.com/office/drawing/2014/main" val="10004"/>
                  </a:ext>
                </a:extLst>
              </a:tr>
              <a:tr h="370840">
                <a:tc>
                  <a:txBody>
                    <a:bodyPr/>
                    <a:lstStyle/>
                    <a:p>
                      <a:r>
                        <a:rPr lang="en-US" sz="1400" dirty="0">
                          <a:latin typeface="Times New Roman" pitchFamily="18" charset="0"/>
                          <a:cs typeface="Times New Roman" pitchFamily="18" charset="0"/>
                        </a:rPr>
                        <a:t>Citation &amp; Influence Analysis</a:t>
                      </a:r>
                    </a:p>
                  </a:txBody>
                  <a:tcPr/>
                </a:tc>
                <a:tc>
                  <a:txBody>
                    <a:bodyPr/>
                    <a:lstStyle/>
                    <a:p>
                      <a:r>
                        <a:rPr lang="en-US" sz="1400" dirty="0">
                          <a:latin typeface="Times New Roman" pitchFamily="18" charset="0"/>
                          <a:cs typeface="Times New Roman" pitchFamily="18" charset="0"/>
                        </a:rPr>
                        <a:t>Graph Neural Networks (GNNs) or </a:t>
                      </a:r>
                      <a:r>
                        <a:rPr lang="en-US" sz="1400" dirty="0" err="1">
                          <a:latin typeface="Times New Roman" pitchFamily="18" charset="0"/>
                          <a:cs typeface="Times New Roman" pitchFamily="18" charset="0"/>
                        </a:rPr>
                        <a:t>NetworkX</a:t>
                      </a:r>
                      <a:r>
                        <a:rPr lang="en-US" sz="1400" dirty="0">
                          <a:latin typeface="Times New Roman" pitchFamily="18" charset="0"/>
                          <a:cs typeface="Times New Roman" pitchFamily="18" charset="0"/>
                        </a:rPr>
                        <a:t> library</a:t>
                      </a:r>
                    </a:p>
                  </a:txBody>
                  <a:tcPr/>
                </a:tc>
                <a:tc>
                  <a:txBody>
                    <a:bodyPr/>
                    <a:lstStyle/>
                    <a:p>
                      <a:r>
                        <a:rPr lang="en-US" sz="1400" dirty="0">
                          <a:latin typeface="Times New Roman" pitchFamily="18" charset="0"/>
                          <a:cs typeface="Times New Roman" pitchFamily="18" charset="0"/>
                        </a:rPr>
                        <a:t>Detect influential research papers and relationships via citation networks.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11FB-1091-4F09-90D6-6B1177617BEA}"/>
              </a:ext>
            </a:extLst>
          </p:cNvPr>
          <p:cNvSpPr>
            <a:spLocks noGrp="1"/>
          </p:cNvSpPr>
          <p:nvPr>
            <p:ph type="title"/>
          </p:nvPr>
        </p:nvSpPr>
        <p:spPr>
          <a:xfrm>
            <a:off x="2231135" y="740574"/>
            <a:ext cx="7729728" cy="1188720"/>
          </a:xfrm>
        </p:spPr>
        <p:txBody>
          <a:bodyPr/>
          <a:lstStyle/>
          <a:p>
            <a:r>
              <a:rPr lang="en-US" dirty="0"/>
              <a:t>System flow diagram</a:t>
            </a:r>
          </a:p>
        </p:txBody>
      </p:sp>
      <p:pic>
        <p:nvPicPr>
          <p:cNvPr id="9" name="Content Placeholder 8">
            <a:extLst>
              <a:ext uri="{FF2B5EF4-FFF2-40B4-BE49-F238E27FC236}">
                <a16:creationId xmlns:a16="http://schemas.microsoft.com/office/drawing/2014/main" id="{C51B91C7-B910-4892-BFFC-0B8B0CFBE48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29435" y="2416835"/>
            <a:ext cx="4043083" cy="3696955"/>
          </a:xfrm>
        </p:spPr>
      </p:pic>
      <p:sp>
        <p:nvSpPr>
          <p:cNvPr id="3" name="TextBox 2">
            <a:extLst>
              <a:ext uri="{FF2B5EF4-FFF2-40B4-BE49-F238E27FC236}">
                <a16:creationId xmlns:a16="http://schemas.microsoft.com/office/drawing/2014/main" id="{960A6ED0-A4E8-4596-8BDC-F8B699C435F2}"/>
              </a:ext>
            </a:extLst>
          </p:cNvPr>
          <p:cNvSpPr txBox="1"/>
          <p:nvPr/>
        </p:nvSpPr>
        <p:spPr>
          <a:xfrm>
            <a:off x="6894934" y="2420471"/>
            <a:ext cx="3209364" cy="369331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diagram illustrates the workflow of the Research Navigator system. It begins with uploading a research paper, followed by text extraction and semantic understanding to interpret content meaningfully. The system then performs insight generation, stores data in a database, and enables user interaction and visualization through an interactive dashboard for exploring extracted insights.</a:t>
            </a:r>
          </a:p>
        </p:txBody>
      </p:sp>
    </p:spTree>
    <p:extLst>
      <p:ext uri="{BB962C8B-B14F-4D97-AF65-F5344CB8AC3E}">
        <p14:creationId xmlns:p14="http://schemas.microsoft.com/office/powerpoint/2010/main" val="943698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77C3-CB81-4CDA-AD80-C76AF95427F9}"/>
              </a:ext>
            </a:extLst>
          </p:cNvPr>
          <p:cNvSpPr>
            <a:spLocks noGrp="1"/>
          </p:cNvSpPr>
          <p:nvPr>
            <p:ph type="title"/>
          </p:nvPr>
        </p:nvSpPr>
        <p:spPr/>
        <p:txBody>
          <a:bodyPr/>
          <a:lstStyle/>
          <a:p>
            <a:r>
              <a:rPr lang="en-US" dirty="0"/>
              <a:t>Dataflow diagram</a:t>
            </a:r>
          </a:p>
        </p:txBody>
      </p:sp>
      <p:pic>
        <p:nvPicPr>
          <p:cNvPr id="5" name="Content Placeholder 4">
            <a:extLst>
              <a:ext uri="{FF2B5EF4-FFF2-40B4-BE49-F238E27FC236}">
                <a16:creationId xmlns:a16="http://schemas.microsoft.com/office/drawing/2014/main" id="{FDEA0542-7A2E-4061-A330-4C89E00FE30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31136" y="2674284"/>
            <a:ext cx="4652962" cy="3101975"/>
          </a:xfrm>
        </p:spPr>
      </p:pic>
      <p:sp>
        <p:nvSpPr>
          <p:cNvPr id="3" name="TextBox 2">
            <a:extLst>
              <a:ext uri="{FF2B5EF4-FFF2-40B4-BE49-F238E27FC236}">
                <a16:creationId xmlns:a16="http://schemas.microsoft.com/office/drawing/2014/main" id="{60741EB5-67D0-4B90-9D33-116B75F78C0D}"/>
              </a:ext>
            </a:extLst>
          </p:cNvPr>
          <p:cNvSpPr txBox="1"/>
          <p:nvPr/>
        </p:nvSpPr>
        <p:spPr>
          <a:xfrm>
            <a:off x="7333130" y="2503954"/>
            <a:ext cx="3182469" cy="397031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diagram represents the workflow of the Research Navigator’s semantic search system. The user inputs a document for analysis, which extracts and processes information stored in the database. The semantic search component retrieves meaningful insights, and the results are presented through visualization, enabling interactive exploration and understanding of research data.</a:t>
            </a:r>
          </a:p>
        </p:txBody>
      </p:sp>
    </p:spTree>
    <p:extLst>
      <p:ext uri="{BB962C8B-B14F-4D97-AF65-F5344CB8AC3E}">
        <p14:creationId xmlns:p14="http://schemas.microsoft.com/office/powerpoint/2010/main" val="852905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FC97-28E4-4C42-88C0-FBB2680EEABF}"/>
              </a:ext>
            </a:extLst>
          </p:cNvPr>
          <p:cNvSpPr>
            <a:spLocks noGrp="1"/>
          </p:cNvSpPr>
          <p:nvPr>
            <p:ph type="title"/>
          </p:nvPr>
        </p:nvSpPr>
        <p:spPr/>
        <p:txBody>
          <a:bodyPr/>
          <a:lstStyle/>
          <a:p>
            <a:r>
              <a:rPr lang="en-US" dirty="0"/>
              <a:t>Database schema</a:t>
            </a:r>
          </a:p>
        </p:txBody>
      </p:sp>
      <p:pic>
        <p:nvPicPr>
          <p:cNvPr id="7" name="Content Placeholder 6" descr="Screenshot 2025-11-10 142715.png"/>
          <p:cNvPicPr>
            <a:picLocks noGrp="1" noChangeAspect="1"/>
          </p:cNvPicPr>
          <p:nvPr>
            <p:ph idx="1"/>
          </p:nvPr>
        </p:nvPicPr>
        <p:blipFill>
          <a:blip r:embed="rId2"/>
          <a:stretch>
            <a:fillRect/>
          </a:stretch>
        </p:blipFill>
        <p:spPr>
          <a:xfrm>
            <a:off x="2309284" y="2722357"/>
            <a:ext cx="7573433" cy="2934110"/>
          </a:xfrm>
        </p:spPr>
      </p:pic>
    </p:spTree>
    <p:extLst>
      <p:ext uri="{BB962C8B-B14F-4D97-AF65-F5344CB8AC3E}">
        <p14:creationId xmlns:p14="http://schemas.microsoft.com/office/powerpoint/2010/main" val="2467870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testing</a:t>
            </a:r>
          </a:p>
        </p:txBody>
      </p:sp>
      <p:graphicFrame>
        <p:nvGraphicFramePr>
          <p:cNvPr id="4" name="Content Placeholder 3"/>
          <p:cNvGraphicFramePr>
            <a:graphicFrameLocks noGrp="1"/>
          </p:cNvGraphicFramePr>
          <p:nvPr>
            <p:ph idx="1"/>
          </p:nvPr>
        </p:nvGraphicFramePr>
        <p:xfrm>
          <a:off x="1320801" y="2409825"/>
          <a:ext cx="9817098" cy="3845560"/>
        </p:xfrm>
        <a:graphic>
          <a:graphicData uri="http://schemas.openxmlformats.org/drawingml/2006/table">
            <a:tbl>
              <a:tblPr firstRow="1" bandRow="1">
                <a:tableStyleId>{5940675A-B579-460E-94D1-54222C63F5DA}</a:tableStyleId>
              </a:tblPr>
              <a:tblGrid>
                <a:gridCol w="3272366">
                  <a:extLst>
                    <a:ext uri="{9D8B030D-6E8A-4147-A177-3AD203B41FA5}">
                      <a16:colId xmlns:a16="http://schemas.microsoft.com/office/drawing/2014/main" val="20000"/>
                    </a:ext>
                  </a:extLst>
                </a:gridCol>
                <a:gridCol w="3272366">
                  <a:extLst>
                    <a:ext uri="{9D8B030D-6E8A-4147-A177-3AD203B41FA5}">
                      <a16:colId xmlns:a16="http://schemas.microsoft.com/office/drawing/2014/main" val="20001"/>
                    </a:ext>
                  </a:extLst>
                </a:gridCol>
                <a:gridCol w="3272366">
                  <a:extLst>
                    <a:ext uri="{9D8B030D-6E8A-4147-A177-3AD203B41FA5}">
                      <a16:colId xmlns:a16="http://schemas.microsoft.com/office/drawing/2014/main" val="20002"/>
                    </a:ext>
                  </a:extLst>
                </a:gridCol>
              </a:tblGrid>
              <a:tr h="370840">
                <a:tc>
                  <a:txBody>
                    <a:bodyPr/>
                    <a:lstStyle/>
                    <a:p>
                      <a:pPr algn="ctr"/>
                      <a:r>
                        <a:rPr lang="en-US" b="1" dirty="0">
                          <a:latin typeface="Times New Roman" pitchFamily="18" charset="0"/>
                          <a:cs typeface="Times New Roman" pitchFamily="18" charset="0"/>
                        </a:rPr>
                        <a:t>Test Type</a:t>
                      </a:r>
                    </a:p>
                  </a:txBody>
                  <a:tcPr anchor="ctr"/>
                </a:tc>
                <a:tc>
                  <a:txBody>
                    <a:bodyPr/>
                    <a:lstStyle/>
                    <a:p>
                      <a:pPr algn="ctr"/>
                      <a:r>
                        <a:rPr lang="en-US" b="1" dirty="0">
                          <a:latin typeface="Times New Roman" pitchFamily="18" charset="0"/>
                          <a:cs typeface="Times New Roman" pitchFamily="18" charset="0"/>
                        </a:rPr>
                        <a:t>Purpose</a:t>
                      </a:r>
                    </a:p>
                  </a:txBody>
                  <a:tcPr/>
                </a:tc>
                <a:tc>
                  <a:txBody>
                    <a:bodyPr/>
                    <a:lstStyle/>
                    <a:p>
                      <a:pPr algn="ctr"/>
                      <a:r>
                        <a:rPr lang="en-US" b="1" dirty="0">
                          <a:latin typeface="Times New Roman" pitchFamily="18" charset="0"/>
                          <a:cs typeface="Times New Roman" pitchFamily="18" charset="0"/>
                        </a:rPr>
                        <a:t>Key Focus Areas</a:t>
                      </a:r>
                    </a:p>
                  </a:txBody>
                  <a:tcPr/>
                </a:tc>
                <a:extLst>
                  <a:ext uri="{0D108BD9-81ED-4DB2-BD59-A6C34878D82A}">
                    <a16:rowId xmlns:a16="http://schemas.microsoft.com/office/drawing/2014/main" val="10000"/>
                  </a:ext>
                </a:extLst>
              </a:tr>
              <a:tr h="370840">
                <a:tc>
                  <a:txBody>
                    <a:bodyPr/>
                    <a:lstStyle/>
                    <a:p>
                      <a:r>
                        <a:rPr lang="en-US" dirty="0">
                          <a:latin typeface="Times New Roman" pitchFamily="18" charset="0"/>
                          <a:cs typeface="Times New Roman" pitchFamily="18" charset="0"/>
                        </a:rPr>
                        <a:t>Functional Testing</a:t>
                      </a:r>
                    </a:p>
                  </a:txBody>
                  <a:tcPr/>
                </a:tc>
                <a:tc>
                  <a:txBody>
                    <a:bodyPr/>
                    <a:lstStyle/>
                    <a:p>
                      <a:r>
                        <a:rPr lang="en-US" dirty="0">
                          <a:latin typeface="Times New Roman" pitchFamily="18" charset="0"/>
                          <a:cs typeface="Times New Roman" pitchFamily="18" charset="0"/>
                        </a:rPr>
                        <a:t>Verify system functions as per requirements.</a:t>
                      </a:r>
                    </a:p>
                  </a:txBody>
                  <a:tcPr/>
                </a:tc>
                <a:tc>
                  <a:txBody>
                    <a:bodyPr/>
                    <a:lstStyle/>
                    <a:p>
                      <a:r>
                        <a:rPr lang="en-US" dirty="0">
                          <a:latin typeface="Times New Roman" pitchFamily="18" charset="0"/>
                          <a:cs typeface="Times New Roman" pitchFamily="18" charset="0"/>
                        </a:rPr>
                        <a:t>Uploads, searches, AI summarization accuracy, export features.</a:t>
                      </a:r>
                    </a:p>
                  </a:txBody>
                  <a:tcPr/>
                </a:tc>
                <a:extLst>
                  <a:ext uri="{0D108BD9-81ED-4DB2-BD59-A6C34878D82A}">
                    <a16:rowId xmlns:a16="http://schemas.microsoft.com/office/drawing/2014/main" val="10001"/>
                  </a:ext>
                </a:extLst>
              </a:tr>
              <a:tr h="370840">
                <a:tc>
                  <a:txBody>
                    <a:bodyPr/>
                    <a:lstStyle/>
                    <a:p>
                      <a:r>
                        <a:rPr lang="en-US" dirty="0">
                          <a:latin typeface="Times New Roman" pitchFamily="18" charset="0"/>
                          <a:cs typeface="Times New Roman" pitchFamily="18" charset="0"/>
                        </a:rPr>
                        <a:t>Performance Testing</a:t>
                      </a:r>
                    </a:p>
                  </a:txBody>
                  <a:tcPr/>
                </a:tc>
                <a:tc>
                  <a:txBody>
                    <a:bodyPr/>
                    <a:lstStyle/>
                    <a:p>
                      <a:r>
                        <a:rPr lang="en-US" dirty="0">
                          <a:latin typeface="Times New Roman" pitchFamily="18" charset="0"/>
                          <a:cs typeface="Times New Roman" pitchFamily="18" charset="0"/>
                        </a:rPr>
                        <a:t>Check speed, scalability, and response times.</a:t>
                      </a:r>
                    </a:p>
                  </a:txBody>
                  <a:tcPr/>
                </a:tc>
                <a:tc>
                  <a:txBody>
                    <a:bodyPr/>
                    <a:lstStyle/>
                    <a:p>
                      <a:r>
                        <a:rPr lang="en-US" dirty="0">
                          <a:latin typeface="Times New Roman" pitchFamily="18" charset="0"/>
                          <a:cs typeface="Times New Roman" pitchFamily="18" charset="0"/>
                        </a:rPr>
                        <a:t>Document ingestion speed, query latency, concurrency.</a:t>
                      </a:r>
                    </a:p>
                  </a:txBody>
                  <a:tcPr/>
                </a:tc>
                <a:extLst>
                  <a:ext uri="{0D108BD9-81ED-4DB2-BD59-A6C34878D82A}">
                    <a16:rowId xmlns:a16="http://schemas.microsoft.com/office/drawing/2014/main" val="10002"/>
                  </a:ext>
                </a:extLst>
              </a:tr>
              <a:tr h="370840">
                <a:tc>
                  <a:txBody>
                    <a:bodyPr/>
                    <a:lstStyle/>
                    <a:p>
                      <a:r>
                        <a:rPr lang="en-US" dirty="0">
                          <a:latin typeface="Times New Roman" pitchFamily="18" charset="0"/>
                          <a:cs typeface="Times New Roman" pitchFamily="18" charset="0"/>
                        </a:rPr>
                        <a:t>Security Testing</a:t>
                      </a:r>
                    </a:p>
                  </a:txBody>
                  <a:tcPr/>
                </a:tc>
                <a:tc>
                  <a:txBody>
                    <a:bodyPr/>
                    <a:lstStyle/>
                    <a:p>
                      <a:r>
                        <a:rPr lang="en-US" dirty="0">
                          <a:latin typeface="Times New Roman" pitchFamily="18" charset="0"/>
                          <a:cs typeface="Times New Roman" pitchFamily="18" charset="0"/>
                        </a:rPr>
                        <a:t>Validate data protection and access controls.</a:t>
                      </a:r>
                    </a:p>
                  </a:txBody>
                  <a:tcPr/>
                </a:tc>
                <a:tc>
                  <a:txBody>
                    <a:bodyPr/>
                    <a:lstStyle/>
                    <a:p>
                      <a:r>
                        <a:rPr lang="en-US" dirty="0">
                          <a:latin typeface="Times New Roman" pitchFamily="18" charset="0"/>
                          <a:cs typeface="Times New Roman" pitchFamily="18" charset="0"/>
                        </a:rPr>
                        <a:t>Authentication, encryption, secure API usage.</a:t>
                      </a:r>
                    </a:p>
                  </a:txBody>
                  <a:tcPr/>
                </a:tc>
                <a:extLst>
                  <a:ext uri="{0D108BD9-81ED-4DB2-BD59-A6C34878D82A}">
                    <a16:rowId xmlns:a16="http://schemas.microsoft.com/office/drawing/2014/main" val="10003"/>
                  </a:ext>
                </a:extLst>
              </a:tr>
              <a:tr h="370840">
                <a:tc>
                  <a:txBody>
                    <a:bodyPr/>
                    <a:lstStyle/>
                    <a:p>
                      <a:r>
                        <a:rPr lang="en-US" dirty="0">
                          <a:latin typeface="Times New Roman" pitchFamily="18" charset="0"/>
                          <a:cs typeface="Times New Roman" pitchFamily="18" charset="0"/>
                        </a:rPr>
                        <a:t>Integration Testing</a:t>
                      </a:r>
                    </a:p>
                  </a:txBody>
                  <a:tcPr/>
                </a:tc>
                <a:tc>
                  <a:txBody>
                    <a:bodyPr/>
                    <a:lstStyle/>
                    <a:p>
                      <a:r>
                        <a:rPr lang="en-US" dirty="0">
                          <a:latin typeface="Times New Roman" pitchFamily="18" charset="0"/>
                          <a:cs typeface="Times New Roman" pitchFamily="18" charset="0"/>
                        </a:rPr>
                        <a:t>Confirm smooth API and database interactions.</a:t>
                      </a:r>
                    </a:p>
                  </a:txBody>
                  <a:tcPr/>
                </a:tc>
                <a:tc>
                  <a:txBody>
                    <a:bodyPr/>
                    <a:lstStyle/>
                    <a:p>
                      <a:r>
                        <a:rPr lang="fr-FR" dirty="0" err="1">
                          <a:latin typeface="Times New Roman" pitchFamily="18" charset="0"/>
                          <a:cs typeface="Times New Roman" pitchFamily="18" charset="0"/>
                        </a:rPr>
                        <a:t>External</a:t>
                      </a:r>
                      <a:r>
                        <a:rPr lang="fr-FR" dirty="0">
                          <a:latin typeface="Times New Roman" pitchFamily="18" charset="0"/>
                          <a:cs typeface="Times New Roman" pitchFamily="18" charset="0"/>
                        </a:rPr>
                        <a:t> data sources, </a:t>
                      </a:r>
                      <a:r>
                        <a:rPr lang="fr-FR" dirty="0" err="1">
                          <a:latin typeface="Times New Roman" pitchFamily="18" charset="0"/>
                          <a:cs typeface="Times New Roman" pitchFamily="18" charset="0"/>
                        </a:rPr>
                        <a:t>cloud</a:t>
                      </a:r>
                      <a:r>
                        <a:rPr lang="fr-FR" dirty="0">
                          <a:latin typeface="Times New Roman" pitchFamily="18" charset="0"/>
                          <a:cs typeface="Times New Roman" pitchFamily="18" charset="0"/>
                        </a:rPr>
                        <a:t> services.</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US" dirty="0">
                          <a:latin typeface="Times New Roman" pitchFamily="18" charset="0"/>
                          <a:cs typeface="Times New Roman" pitchFamily="18" charset="0"/>
                        </a:rPr>
                        <a:t>AI Model Validation</a:t>
                      </a:r>
                    </a:p>
                  </a:txBody>
                  <a:tcPr/>
                </a:tc>
                <a:tc>
                  <a:txBody>
                    <a:bodyPr/>
                    <a:lstStyle/>
                    <a:p>
                      <a:r>
                        <a:rPr lang="en-US" dirty="0">
                          <a:latin typeface="Times New Roman" pitchFamily="18" charset="0"/>
                          <a:cs typeface="Times New Roman" pitchFamily="18" charset="0"/>
                        </a:rPr>
                        <a:t>Evaluate quality and accuracy of AI outputs.</a:t>
                      </a:r>
                    </a:p>
                  </a:txBody>
                  <a:tcPr/>
                </a:tc>
                <a:tc>
                  <a:txBody>
                    <a:bodyPr/>
                    <a:lstStyle/>
                    <a:p>
                      <a:r>
                        <a:rPr lang="en-US" dirty="0">
                          <a:latin typeface="Times New Roman" pitchFamily="18" charset="0"/>
                          <a:cs typeface="Times New Roman" pitchFamily="18" charset="0"/>
                        </a:rPr>
                        <a:t>Precision/recall of insights, bias detection, model </a:t>
                      </a:r>
                      <a:r>
                        <a:rPr lang="en-US" dirty="0" err="1">
                          <a:latin typeface="Times New Roman" pitchFamily="18" charset="0"/>
                          <a:cs typeface="Times New Roman" pitchFamily="18" charset="0"/>
                        </a:rPr>
                        <a:t>explainability</a:t>
                      </a:r>
                      <a:r>
                        <a:rPr lang="en-US" dirty="0">
                          <a:latin typeface="Times New Roman" pitchFamily="18" charset="0"/>
                          <a:cs typeface="Times New Roman" pitchFamily="18" charset="0"/>
                        </a:rPr>
                        <a: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7F24-4D07-4600-8F5A-C0052BD248A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83CF002-2C84-4BFE-BADB-5104CDA39817}"/>
              </a:ext>
            </a:extLst>
          </p:cNvPr>
          <p:cNvSpPr>
            <a:spLocks noGrp="1"/>
          </p:cNvSpPr>
          <p:nvPr>
            <p:ph idx="1"/>
          </p:nvPr>
        </p:nvSpPr>
        <p:spPr/>
        <p:txBody>
          <a:bodyPr>
            <a:normAutofit lnSpcReduction="10000"/>
          </a:bodyPr>
          <a:lstStyle/>
          <a:p>
            <a:pPr algn="just">
              <a:buClrTx/>
            </a:pPr>
            <a:r>
              <a:rPr lang="en-US" dirty="0">
                <a:effectLst/>
                <a:latin typeface="Times New Roman" panose="02020603050405020304" pitchFamily="18" charset="0"/>
                <a:cs typeface="Times New Roman" panose="02020603050405020304" pitchFamily="18" charset="0"/>
              </a:rPr>
              <a:t>The Research Navigator – Semantic Paper Analyzer successfully demonstrates the integration of advanced Natural Language Processing (NLP) and Artificial Intelligence to analyze, summarize, and extract meaningful insights from scientific research papers.</a:t>
            </a:r>
            <a:endParaRPr lang="en-US" dirty="0">
              <a:latin typeface="Times New Roman" panose="02020603050405020304" pitchFamily="18" charset="0"/>
              <a:cs typeface="Times New Roman" panose="02020603050405020304" pitchFamily="18" charset="0"/>
            </a:endParaRPr>
          </a:p>
          <a:p>
            <a:pPr algn="just">
              <a:buClrTx/>
            </a:pPr>
            <a:r>
              <a:rPr lang="en-US" dirty="0">
                <a:effectLst/>
                <a:latin typeface="Times New Roman" panose="02020603050405020304" pitchFamily="18" charset="0"/>
                <a:cs typeface="Times New Roman" panose="02020603050405020304" pitchFamily="18" charset="0"/>
              </a:rPr>
              <a:t>By utilizing models such as BERT and </a:t>
            </a:r>
            <a:r>
              <a:rPr lang="en-US" dirty="0" err="1">
                <a:effectLst/>
                <a:latin typeface="Times New Roman" panose="02020603050405020304" pitchFamily="18" charset="0"/>
                <a:cs typeface="Times New Roman" panose="02020603050405020304" pitchFamily="18" charset="0"/>
              </a:rPr>
              <a:t>SciBERT</a:t>
            </a:r>
            <a:r>
              <a:rPr lang="en-US" dirty="0">
                <a:effectLst/>
                <a:latin typeface="Times New Roman" panose="02020603050405020304" pitchFamily="18" charset="0"/>
                <a:cs typeface="Times New Roman" panose="02020603050405020304" pitchFamily="18" charset="0"/>
              </a:rPr>
              <a:t>, the system achieves semantic understanding beyond keyword matching — enabling deep context-based comprehension of research content.</a:t>
            </a:r>
            <a:endParaRPr lang="en-US" dirty="0">
              <a:latin typeface="Times New Roman" panose="02020603050405020304" pitchFamily="18" charset="0"/>
              <a:cs typeface="Times New Roman" panose="02020603050405020304" pitchFamily="18" charset="0"/>
            </a:endParaRPr>
          </a:p>
          <a:p>
            <a:pPr algn="just">
              <a:buClrTx/>
            </a:pPr>
            <a:r>
              <a:rPr lang="en-US" dirty="0">
                <a:effectLst/>
                <a:latin typeface="Times New Roman" panose="02020603050405020304" pitchFamily="18" charset="0"/>
                <a:cs typeface="Times New Roman" panose="02020603050405020304" pitchFamily="18" charset="0"/>
              </a:rPr>
              <a:t>It assists researchers, students, and academicians by automatically identifying key concepts, related studies, and generating concise summaries, thereby reducing the time and effort involved in literature review and knowledge discovery.</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156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96B2-AAE5-480E-BEC2-31A61B77AA75}"/>
              </a:ext>
            </a:extLst>
          </p:cNvPr>
          <p:cNvSpPr>
            <a:spLocks noGrp="1"/>
          </p:cNvSpPr>
          <p:nvPr>
            <p:ph type="title"/>
          </p:nvPr>
        </p:nvSpPr>
        <p:spPr/>
        <p:txBody>
          <a:bodyPr/>
          <a:lstStyle/>
          <a:p>
            <a:r>
              <a:rPr lang="en-US" dirty="0"/>
              <a:t>Future enhancements</a:t>
            </a:r>
          </a:p>
        </p:txBody>
      </p:sp>
      <p:sp>
        <p:nvSpPr>
          <p:cNvPr id="3" name="Content Placeholder 2">
            <a:extLst>
              <a:ext uri="{FF2B5EF4-FFF2-40B4-BE49-F238E27FC236}">
                <a16:creationId xmlns:a16="http://schemas.microsoft.com/office/drawing/2014/main" id="{248E8346-DE6D-4AC6-B15F-530E89B5EEB8}"/>
              </a:ext>
            </a:extLst>
          </p:cNvPr>
          <p:cNvSpPr>
            <a:spLocks noGrp="1"/>
          </p:cNvSpPr>
          <p:nvPr>
            <p:ph idx="1"/>
          </p:nvPr>
        </p:nvSpPr>
        <p:spPr>
          <a:xfrm>
            <a:off x="2156491" y="2423440"/>
            <a:ext cx="7729728" cy="4117319"/>
          </a:xfrm>
        </p:spPr>
        <p:txBody>
          <a:bodyPr>
            <a:noAutofit/>
          </a:bodyPr>
          <a:lstStyle/>
          <a:p>
            <a:pPr marL="0" indent="0" algn="just">
              <a:buClrTx/>
              <a:buNone/>
            </a:pPr>
            <a:r>
              <a:rPr lang="en-US" dirty="0">
                <a:latin typeface="Times New Roman" panose="02020603050405020304" pitchFamily="18" charset="0"/>
                <a:cs typeface="Times New Roman" panose="02020603050405020304" pitchFamily="18" charset="0"/>
              </a:rPr>
              <a:t>In the future, Research Navigator can be enhanced with multimodal analysis to interpret text, tables, and figures using computer vision, and advanced language models like GPT or </a:t>
            </a:r>
            <a:r>
              <a:rPr lang="en-US" dirty="0" err="1">
                <a:latin typeface="Times New Roman" panose="02020603050405020304" pitchFamily="18" charset="0"/>
                <a:cs typeface="Times New Roman" panose="02020603050405020304" pitchFamily="18" charset="0"/>
              </a:rPr>
              <a:t>LLaMA</a:t>
            </a:r>
            <a:r>
              <a:rPr lang="en-US" dirty="0">
                <a:latin typeface="Times New Roman" panose="02020603050405020304" pitchFamily="18" charset="0"/>
                <a:cs typeface="Times New Roman" panose="02020603050405020304" pitchFamily="18" charset="0"/>
              </a:rPr>
              <a:t> for smarter summarization and question answering. Real-time research trend tracking and personalized recommendations will improve relevance, while collaborative workspaces will enable sharing and discussion. Integrating a conversational chatbot or voice assistant and deploying the system on the cloud will enhance accessibility, scalability, and overall research efficiency. These upgrades will make the platform more intelligent, context-aware, and user-centric, empowering researchers to gain deeper insights effortlessly. Ultimately, it will evolve into a comprehensive AI-powered research companion for the academic community.</a:t>
            </a:r>
          </a:p>
        </p:txBody>
      </p:sp>
    </p:spTree>
    <p:extLst>
      <p:ext uri="{BB962C8B-B14F-4D97-AF65-F5344CB8AC3E}">
        <p14:creationId xmlns:p14="http://schemas.microsoft.com/office/powerpoint/2010/main" val="2275901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1346200" y="2638044"/>
            <a:ext cx="9537700" cy="3661156"/>
          </a:xfrm>
        </p:spPr>
        <p:txBody>
          <a:bodyPr/>
          <a:lstStyle/>
          <a:p>
            <a:pPr marL="342900" indent="-342900" algn="just">
              <a:buClrTx/>
              <a:buFont typeface="+mj-lt"/>
              <a:buAutoNum type="arabicPeriod"/>
            </a:pPr>
            <a:r>
              <a:rPr lang="en-US" dirty="0">
                <a:latin typeface="Times New Roman" pitchFamily="18" charset="0"/>
                <a:cs typeface="Times New Roman" pitchFamily="18" charset="0"/>
              </a:rPr>
              <a:t>AI Research Navigator — </a:t>
            </a:r>
            <a:r>
              <a:rPr lang="en-US" dirty="0" err="1">
                <a:latin typeface="Times New Roman" pitchFamily="18" charset="0"/>
                <a:cs typeface="Times New Roman" pitchFamily="18" charset="0"/>
              </a:rPr>
              <a:t>Fadaee</a:t>
            </a:r>
            <a:r>
              <a:rPr lang="en-US" dirty="0">
                <a:latin typeface="Times New Roman" pitchFamily="18" charset="0"/>
                <a:cs typeface="Times New Roman" pitchFamily="18" charset="0"/>
              </a:rPr>
              <a:t>, M., </a:t>
            </a:r>
            <a:r>
              <a:rPr lang="en-US" dirty="0" err="1">
                <a:latin typeface="Times New Roman" pitchFamily="18" charset="0"/>
                <a:cs typeface="Times New Roman" pitchFamily="18" charset="0"/>
              </a:rPr>
              <a:t>Gureenkova</a:t>
            </a:r>
            <a:r>
              <a:rPr lang="en-US" dirty="0">
                <a:latin typeface="Times New Roman" pitchFamily="18" charset="0"/>
                <a:cs typeface="Times New Roman" pitchFamily="18" charset="0"/>
              </a:rPr>
              <a:t>, O., </a:t>
            </a:r>
            <a:r>
              <a:rPr lang="en-US" dirty="0" err="1">
                <a:latin typeface="Times New Roman" pitchFamily="18" charset="0"/>
                <a:cs typeface="Times New Roman" pitchFamily="18" charset="0"/>
              </a:rPr>
              <a:t>Rejon</a:t>
            </a:r>
            <a:r>
              <a:rPr lang="en-US" dirty="0">
                <a:latin typeface="Times New Roman" pitchFamily="18" charset="0"/>
                <a:cs typeface="Times New Roman" pitchFamily="18" charset="0"/>
              </a:rPr>
              <a:t> Barrera, F., </a:t>
            </a:r>
            <a:r>
              <a:rPr lang="en-US" dirty="0" err="1">
                <a:latin typeface="Times New Roman" pitchFamily="18" charset="0"/>
                <a:cs typeface="Times New Roman" pitchFamily="18" charset="0"/>
              </a:rPr>
              <a:t>Schnober</a:t>
            </a:r>
            <a:r>
              <a:rPr lang="en-US" dirty="0">
                <a:latin typeface="Times New Roman" pitchFamily="18" charset="0"/>
                <a:cs typeface="Times New Roman" pitchFamily="18" charset="0"/>
              </a:rPr>
              <a:t>, C., </a:t>
            </a:r>
            <a:r>
              <a:rPr lang="en-US" dirty="0" err="1">
                <a:latin typeface="Times New Roman" pitchFamily="18" charset="0"/>
                <a:cs typeface="Times New Roman" pitchFamily="18" charset="0"/>
              </a:rPr>
              <a:t>Weerkamp</a:t>
            </a:r>
            <a:r>
              <a:rPr lang="en-US" dirty="0">
                <a:latin typeface="Times New Roman" pitchFamily="18" charset="0"/>
                <a:cs typeface="Times New Roman" pitchFamily="18" charset="0"/>
              </a:rPr>
              <a:t>, W., </a:t>
            </a:r>
            <a:r>
              <a:rPr lang="en-US" dirty="0" err="1">
                <a:latin typeface="Times New Roman" pitchFamily="18" charset="0"/>
                <a:cs typeface="Times New Roman" pitchFamily="18" charset="0"/>
              </a:rPr>
              <a:t>Zavrel</a:t>
            </a:r>
            <a:r>
              <a:rPr lang="en-US" dirty="0">
                <a:latin typeface="Times New Roman" pitchFamily="18" charset="0"/>
                <a:cs typeface="Times New Roman" pitchFamily="18" charset="0"/>
              </a:rPr>
              <a:t>, J. “A New Neural Search and Insights Platform for Navigating and Organizing AI Research.” </a:t>
            </a:r>
            <a:r>
              <a:rPr lang="en-US" dirty="0" err="1">
                <a:latin typeface="Times New Roman" pitchFamily="18" charset="0"/>
                <a:cs typeface="Times New Roman" pitchFamily="18" charset="0"/>
              </a:rPr>
              <a:t>arXiv</a:t>
            </a:r>
            <a:r>
              <a:rPr lang="en-US" dirty="0">
                <a:latin typeface="Times New Roman" pitchFamily="18" charset="0"/>
                <a:cs typeface="Times New Roman" pitchFamily="18" charset="0"/>
              </a:rPr>
              <a:t> preprint, 2020.</a:t>
            </a:r>
          </a:p>
          <a:p>
            <a:pPr marL="342900" indent="-342900" algn="just">
              <a:buClrTx/>
              <a:buFont typeface="+mj-lt"/>
              <a:buAutoNum type="arabicPeriod"/>
            </a:pPr>
            <a:r>
              <a:rPr lang="en-US" dirty="0">
                <a:latin typeface="Times New Roman" pitchFamily="18" charset="0"/>
                <a:cs typeface="Times New Roman" pitchFamily="18" charset="0"/>
              </a:rPr>
              <a:t>Research Horizon Navigator (by </a:t>
            </a:r>
            <a:r>
              <a:rPr lang="en-US" dirty="0" err="1">
                <a:latin typeface="Times New Roman" pitchFamily="18" charset="0"/>
                <a:cs typeface="Times New Roman" pitchFamily="18" charset="0"/>
              </a:rPr>
              <a:t>Clarivate</a:t>
            </a:r>
            <a:r>
              <a:rPr lang="en-US" dirty="0">
                <a:latin typeface="Times New Roman" pitchFamily="18" charset="0"/>
                <a:cs typeface="Times New Roman" pitchFamily="18" charset="0"/>
              </a:rPr>
              <a:t> Plc) — “</a:t>
            </a:r>
            <a:r>
              <a:rPr lang="en-US" dirty="0" err="1">
                <a:latin typeface="Times New Roman" pitchFamily="18" charset="0"/>
                <a:cs typeface="Times New Roman" pitchFamily="18" charset="0"/>
              </a:rPr>
              <a:t>Clarivate</a:t>
            </a:r>
            <a:r>
              <a:rPr lang="en-US" dirty="0">
                <a:latin typeface="Times New Roman" pitchFamily="18" charset="0"/>
                <a:cs typeface="Times New Roman" pitchFamily="18" charset="0"/>
              </a:rPr>
              <a:t> Launches Research Horizon Navigator to Pinpoint Future Breakthrough Areas.” PR Newswire, June 4 2024.</a:t>
            </a:r>
          </a:p>
          <a:p>
            <a:pPr marL="342900" indent="-342900" algn="just">
              <a:buClrTx/>
              <a:buFont typeface="+mj-lt"/>
              <a:buAutoNum type="arabicPeriod"/>
            </a:pPr>
            <a:r>
              <a:rPr lang="en-US" dirty="0">
                <a:latin typeface="Times New Roman" pitchFamily="18" charset="0"/>
                <a:cs typeface="Times New Roman" pitchFamily="18" charset="0"/>
              </a:rPr>
              <a:t>Insight Assistant (by </a:t>
            </a:r>
            <a:r>
              <a:rPr lang="en-US" dirty="0" err="1">
                <a:latin typeface="Times New Roman" pitchFamily="18" charset="0"/>
                <a:cs typeface="Times New Roman" pitchFamily="18" charset="0"/>
              </a:rPr>
              <a:t>Innopipe</a:t>
            </a:r>
            <a:r>
              <a:rPr lang="en-US" dirty="0">
                <a:latin typeface="Times New Roman" pitchFamily="18" charset="0"/>
                <a:cs typeface="Times New Roman" pitchFamily="18" charset="0"/>
              </a:rPr>
              <a:t>) — “Insight Assistant | AI-Powered Research &amp; Innovation Insights.” Website.</a:t>
            </a:r>
          </a:p>
          <a:p>
            <a:pPr marL="342900" indent="-342900" algn="just">
              <a:buClrTx/>
              <a:buFont typeface="+mj-lt"/>
              <a:buAutoNum type="arabicPeriod"/>
            </a:pPr>
            <a:r>
              <a:rPr lang="en-US" dirty="0" err="1">
                <a:latin typeface="Times New Roman" pitchFamily="18" charset="0"/>
                <a:cs typeface="Times New Roman" pitchFamily="18" charset="0"/>
              </a:rPr>
              <a:t>InsightPaper</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InsightPaper</a:t>
            </a:r>
            <a:r>
              <a:rPr lang="en-US" dirty="0">
                <a:latin typeface="Times New Roman" pitchFamily="18" charset="0"/>
                <a:cs typeface="Times New Roman" pitchFamily="18" charset="0"/>
              </a:rPr>
              <a:t>: AI-Powered Research Paper Assistant (website).</a:t>
            </a:r>
          </a:p>
          <a:p>
            <a:pPr marL="342900" indent="-342900" algn="just">
              <a:buClrTx/>
              <a:buFont typeface="+mj-lt"/>
              <a:buAutoNum type="arabicPeriod"/>
            </a:pPr>
            <a:r>
              <a:rPr lang="en-US" dirty="0">
                <a:latin typeface="Times New Roman" pitchFamily="18" charset="0"/>
                <a:cs typeface="Times New Roman" pitchFamily="18" charset="0"/>
              </a:rPr>
              <a:t>Knowledge Navigator — Katz, U., Levy, M., Goldberg, Y. “Knowledge Navigator: LLM-guided Browsing Framework for Exploratory Search in Scientific Literature.” ACL Anthology (2024).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screenshots</a:t>
            </a:r>
          </a:p>
        </p:txBody>
      </p:sp>
      <p:pic>
        <p:nvPicPr>
          <p:cNvPr id="11" name="Picture 10" descr="1762763391010.jpg"/>
          <p:cNvPicPr>
            <a:picLocks noChangeAspect="1"/>
          </p:cNvPicPr>
          <p:nvPr/>
        </p:nvPicPr>
        <p:blipFill>
          <a:blip r:embed="rId2"/>
          <a:stretch>
            <a:fillRect/>
          </a:stretch>
        </p:blipFill>
        <p:spPr>
          <a:xfrm>
            <a:off x="2006600" y="2324100"/>
            <a:ext cx="3848100" cy="3492500"/>
          </a:xfrm>
          <a:prstGeom prst="rect">
            <a:avLst/>
          </a:prstGeom>
        </p:spPr>
      </p:pic>
      <p:pic>
        <p:nvPicPr>
          <p:cNvPr id="12" name="Picture 11" descr="1762763391088.jpg"/>
          <p:cNvPicPr>
            <a:picLocks noChangeAspect="1"/>
          </p:cNvPicPr>
          <p:nvPr/>
        </p:nvPicPr>
        <p:blipFill>
          <a:blip r:embed="rId3"/>
          <a:stretch>
            <a:fillRect/>
          </a:stretch>
        </p:blipFill>
        <p:spPr>
          <a:xfrm>
            <a:off x="5854700" y="2654299"/>
            <a:ext cx="5295900" cy="2933701"/>
          </a:xfrm>
          <a:prstGeom prst="rect">
            <a:avLst/>
          </a:prstGeom>
        </p:spPr>
      </p:pic>
      <p:sp>
        <p:nvSpPr>
          <p:cNvPr id="4" name="TextBox 3">
            <a:extLst>
              <a:ext uri="{FF2B5EF4-FFF2-40B4-BE49-F238E27FC236}">
                <a16:creationId xmlns:a16="http://schemas.microsoft.com/office/drawing/2014/main" id="{FB204416-CA35-4FD8-B205-2EF4955DE8FE}"/>
              </a:ext>
            </a:extLst>
          </p:cNvPr>
          <p:cNvSpPr txBox="1"/>
          <p:nvPr/>
        </p:nvSpPr>
        <p:spPr>
          <a:xfrm flipH="1">
            <a:off x="2357718" y="5708642"/>
            <a:ext cx="363070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Fig(1)-User Authentication Module</a:t>
            </a:r>
          </a:p>
        </p:txBody>
      </p:sp>
      <p:sp>
        <p:nvSpPr>
          <p:cNvPr id="5" name="TextBox 4">
            <a:extLst>
              <a:ext uri="{FF2B5EF4-FFF2-40B4-BE49-F238E27FC236}">
                <a16:creationId xmlns:a16="http://schemas.microsoft.com/office/drawing/2014/main" id="{965880E4-DD7A-4EED-9C67-CD42A30567ED}"/>
              </a:ext>
            </a:extLst>
          </p:cNvPr>
          <p:cNvSpPr txBox="1"/>
          <p:nvPr/>
        </p:nvSpPr>
        <p:spPr>
          <a:xfrm>
            <a:off x="6391461" y="5847141"/>
            <a:ext cx="42223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Fig(2) - Document Ingestion Module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screenshots</a:t>
            </a:r>
          </a:p>
        </p:txBody>
      </p:sp>
      <p:pic>
        <p:nvPicPr>
          <p:cNvPr id="4" name="Picture 3" descr="1762763391019.jpg"/>
          <p:cNvPicPr>
            <a:picLocks noChangeAspect="1"/>
          </p:cNvPicPr>
          <p:nvPr/>
        </p:nvPicPr>
        <p:blipFill>
          <a:blip r:embed="rId2"/>
          <a:stretch>
            <a:fillRect/>
          </a:stretch>
        </p:blipFill>
        <p:spPr>
          <a:xfrm>
            <a:off x="2171700" y="2552700"/>
            <a:ext cx="4826000" cy="2489200"/>
          </a:xfrm>
          <a:prstGeom prst="rect">
            <a:avLst/>
          </a:prstGeom>
        </p:spPr>
      </p:pic>
      <p:pic>
        <p:nvPicPr>
          <p:cNvPr id="5" name="Picture 4" descr="1762763390986.jpg"/>
          <p:cNvPicPr>
            <a:picLocks noChangeAspect="1"/>
          </p:cNvPicPr>
          <p:nvPr/>
        </p:nvPicPr>
        <p:blipFill>
          <a:blip r:embed="rId3"/>
          <a:stretch>
            <a:fillRect/>
          </a:stretch>
        </p:blipFill>
        <p:spPr>
          <a:xfrm>
            <a:off x="7259171" y="2513317"/>
            <a:ext cx="4164012" cy="3133725"/>
          </a:xfrm>
          <a:prstGeom prst="rect">
            <a:avLst/>
          </a:prstGeom>
        </p:spPr>
      </p:pic>
      <p:sp>
        <p:nvSpPr>
          <p:cNvPr id="6" name="TextBox 5">
            <a:extLst>
              <a:ext uri="{FF2B5EF4-FFF2-40B4-BE49-F238E27FC236}">
                <a16:creationId xmlns:a16="http://schemas.microsoft.com/office/drawing/2014/main" id="{D3025C67-011C-4822-8AE0-2F1F4CB59A17}"/>
              </a:ext>
            </a:extLst>
          </p:cNvPr>
          <p:cNvSpPr txBox="1"/>
          <p:nvPr/>
        </p:nvSpPr>
        <p:spPr>
          <a:xfrm>
            <a:off x="2171700" y="5289176"/>
            <a:ext cx="336848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(3) – Semantic search module</a:t>
            </a:r>
          </a:p>
        </p:txBody>
      </p:sp>
      <p:sp>
        <p:nvSpPr>
          <p:cNvPr id="8" name="TextBox 7">
            <a:extLst>
              <a:ext uri="{FF2B5EF4-FFF2-40B4-BE49-F238E27FC236}">
                <a16:creationId xmlns:a16="http://schemas.microsoft.com/office/drawing/2014/main" id="{805CB0D8-D6FF-40D1-855B-D4E66880CF4D}"/>
              </a:ext>
            </a:extLst>
          </p:cNvPr>
          <p:cNvSpPr txBox="1"/>
          <p:nvPr/>
        </p:nvSpPr>
        <p:spPr>
          <a:xfrm>
            <a:off x="7259171" y="5728447"/>
            <a:ext cx="340882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(4) – Keyword Extraction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screenshots</a:t>
            </a:r>
          </a:p>
        </p:txBody>
      </p:sp>
      <p:pic>
        <p:nvPicPr>
          <p:cNvPr id="7" name="Picture 6" descr="1762763391028.jpg"/>
          <p:cNvPicPr>
            <a:picLocks noChangeAspect="1"/>
          </p:cNvPicPr>
          <p:nvPr/>
        </p:nvPicPr>
        <p:blipFill>
          <a:blip r:embed="rId2"/>
          <a:stretch>
            <a:fillRect/>
          </a:stretch>
        </p:blipFill>
        <p:spPr>
          <a:xfrm>
            <a:off x="2070099" y="2590800"/>
            <a:ext cx="4343401" cy="3289300"/>
          </a:xfrm>
          <a:prstGeom prst="rect">
            <a:avLst/>
          </a:prstGeom>
        </p:spPr>
      </p:pic>
      <p:pic>
        <p:nvPicPr>
          <p:cNvPr id="8" name="Picture 7" descr="1762763391105.jpg"/>
          <p:cNvPicPr>
            <a:picLocks noChangeAspect="1"/>
          </p:cNvPicPr>
          <p:nvPr/>
        </p:nvPicPr>
        <p:blipFill>
          <a:blip r:embed="rId3"/>
          <a:stretch>
            <a:fillRect/>
          </a:stretch>
        </p:blipFill>
        <p:spPr>
          <a:xfrm>
            <a:off x="6595035" y="2474259"/>
            <a:ext cx="4432300" cy="3771900"/>
          </a:xfrm>
          <a:prstGeom prst="rect">
            <a:avLst/>
          </a:prstGeom>
        </p:spPr>
      </p:pic>
      <p:sp>
        <p:nvSpPr>
          <p:cNvPr id="3" name="TextBox 2">
            <a:extLst>
              <a:ext uri="{FF2B5EF4-FFF2-40B4-BE49-F238E27FC236}">
                <a16:creationId xmlns:a16="http://schemas.microsoft.com/office/drawing/2014/main" id="{275E7FF3-7085-4585-8A91-8990B75FD15E}"/>
              </a:ext>
            </a:extLst>
          </p:cNvPr>
          <p:cNvSpPr txBox="1"/>
          <p:nvPr/>
        </p:nvSpPr>
        <p:spPr>
          <a:xfrm>
            <a:off x="2070099" y="2196405"/>
            <a:ext cx="2053666" cy="369332"/>
          </a:xfrm>
          <a:prstGeom prst="rect">
            <a:avLst/>
          </a:prstGeom>
          <a:noFill/>
        </p:spPr>
        <p:txBody>
          <a:bodyPr wrap="square" rtlCol="0">
            <a:spAutoFit/>
          </a:bodyPr>
          <a:lstStyle/>
          <a:p>
            <a:endParaRPr lang="en-US" dirty="0"/>
          </a:p>
        </p:txBody>
      </p:sp>
      <p:sp>
        <p:nvSpPr>
          <p:cNvPr id="4" name="TextBox 3">
            <a:extLst>
              <a:ext uri="{FF2B5EF4-FFF2-40B4-BE49-F238E27FC236}">
                <a16:creationId xmlns:a16="http://schemas.microsoft.com/office/drawing/2014/main" id="{8313184F-ACC6-4FD8-9B8D-4B7E11E0BEA7}"/>
              </a:ext>
            </a:extLst>
          </p:cNvPr>
          <p:cNvSpPr txBox="1"/>
          <p:nvPr/>
        </p:nvSpPr>
        <p:spPr>
          <a:xfrm>
            <a:off x="2070098" y="2196405"/>
            <a:ext cx="395418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(5) – Named Entity Recognition</a:t>
            </a:r>
          </a:p>
        </p:txBody>
      </p:sp>
      <p:sp>
        <p:nvSpPr>
          <p:cNvPr id="5" name="TextBox 4">
            <a:extLst>
              <a:ext uri="{FF2B5EF4-FFF2-40B4-BE49-F238E27FC236}">
                <a16:creationId xmlns:a16="http://schemas.microsoft.com/office/drawing/2014/main" id="{3FB3F692-5B49-4F18-BBFB-4E5CEB1FA933}"/>
              </a:ext>
            </a:extLst>
          </p:cNvPr>
          <p:cNvSpPr txBox="1"/>
          <p:nvPr/>
        </p:nvSpPr>
        <p:spPr>
          <a:xfrm>
            <a:off x="6595034" y="2153412"/>
            <a:ext cx="443229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(6) – Visualization Dashboard</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201</TotalTime>
  <Words>1709</Words>
  <Application>Microsoft Office PowerPoint</Application>
  <PresentationFormat>Widescreen</PresentationFormat>
  <Paragraphs>168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Cambria</vt:lpstr>
      <vt:lpstr>Gill Sans MT</vt:lpstr>
      <vt:lpstr>Times New Roman</vt:lpstr>
      <vt:lpstr>Wingdings</vt:lpstr>
      <vt:lpstr>Parcel</vt:lpstr>
      <vt:lpstr>Research Navigator – Ai powered research insight analyzer</vt:lpstr>
      <vt:lpstr>Problem statement</vt:lpstr>
      <vt:lpstr>Objectives</vt:lpstr>
      <vt:lpstr>Outcomes</vt:lpstr>
      <vt:lpstr>modules</vt:lpstr>
      <vt:lpstr>MODULES</vt:lpstr>
      <vt:lpstr>MODULES</vt:lpstr>
      <vt:lpstr>Hardware requirements</vt:lpstr>
      <vt:lpstr>Software requirements</vt:lpstr>
      <vt:lpstr>Technologies used</vt:lpstr>
      <vt:lpstr>System flow diagram</vt:lpstr>
      <vt:lpstr>Dataflow diagram</vt:lpstr>
      <vt:lpstr>Database schema</vt:lpstr>
      <vt:lpstr>System testing</vt:lpstr>
      <vt:lpstr>conclusion</vt:lpstr>
      <vt:lpstr>Future enhancements</vt:lpstr>
      <vt:lpstr>references</vt:lpstr>
      <vt:lpstr>Project screenshots</vt:lpstr>
      <vt:lpstr>Project screenshots</vt:lpstr>
      <vt:lpstr>Project screenshots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Navigator – Ai powered research insight analyzer</dc:title>
  <dc:creator>Amarathalluri Sathvik Samuel</dc:creator>
  <cp:lastModifiedBy>Amarathalluri Sathvik Samuel</cp:lastModifiedBy>
  <cp:revision>23</cp:revision>
  <dcterms:created xsi:type="dcterms:W3CDTF">2025-11-08T10:18:23Z</dcterms:created>
  <dcterms:modified xsi:type="dcterms:W3CDTF">2025-11-10T15:37:30Z</dcterms:modified>
</cp:coreProperties>
</file>